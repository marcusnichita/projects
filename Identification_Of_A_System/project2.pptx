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sldIdLst>
    <p:sldId id="256" r:id="rId2"/>
    <p:sldId id="257" r:id="rId3"/>
    <p:sldId id="258" r:id="rId4"/>
    <p:sldId id="259" r:id="rId5"/>
    <p:sldId id="260" r:id="rId6"/>
    <p:sldId id="261" r:id="rId7"/>
    <p:sldId id="265" r:id="rId8"/>
    <p:sldId id="262" r:id="rId9"/>
    <p:sldId id="263" r:id="rId10"/>
    <p:sldId id="264" r:id="rId11"/>
    <p:sldId id="267" r:id="rId12"/>
    <p:sldId id="266"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93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5CD60141-EEBD-4EC1-8E34-0344C16A18A2}"/>
              </a:ext>
              <a:ext uri="{C183D7F6-B498-43B3-948B-1728B52AA6E4}">
                <adec:decorative xmlns:adec="http://schemas.microsoft.com/office/drawing/2017/decorative" val="1"/>
              </a:ext>
            </a:extLst>
          </p:cNvPr>
          <p:cNvSpPr/>
          <p:nvPr/>
        </p:nvSpPr>
        <p:spPr>
          <a:xfrm>
            <a:off x="5318308" y="0"/>
            <a:ext cx="6873692" cy="6858000"/>
          </a:xfrm>
          <a:custGeom>
            <a:avLst/>
            <a:gdLst>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0 w 12192000"/>
              <a:gd name="connsiteY6" fmla="*/ 0 h 6858000"/>
              <a:gd name="connsiteX7" fmla="*/ 6700 w 12192000"/>
              <a:gd name="connsiteY7" fmla="*/ 0 h 6858000"/>
              <a:gd name="connsiteX8" fmla="*/ 6700 w 12192000"/>
              <a:gd name="connsiteY8" fmla="*/ 6858000 h 6858000"/>
              <a:gd name="connsiteX9" fmla="*/ 0 w 12192000"/>
              <a:gd name="connsiteY9" fmla="*/ 6858000 h 6858000"/>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11328900 w 12192000"/>
              <a:gd name="connsiteY6" fmla="*/ 0 h 6858000"/>
              <a:gd name="connsiteX7" fmla="*/ 0 w 12192000"/>
              <a:gd name="connsiteY7" fmla="*/ 6858000 h 6858000"/>
              <a:gd name="connsiteX8" fmla="*/ 6700 w 12192000"/>
              <a:gd name="connsiteY8" fmla="*/ 0 h 6858000"/>
              <a:gd name="connsiteX9" fmla="*/ 6700 w 12192000"/>
              <a:gd name="connsiteY9" fmla="*/ 6858000 h 6858000"/>
              <a:gd name="connsiteX10" fmla="*/ 0 w 12192000"/>
              <a:gd name="connsiteY10" fmla="*/ 6858000 h 6858000"/>
              <a:gd name="connsiteX0" fmla="*/ 11322200 w 12185300"/>
              <a:gd name="connsiteY0" fmla="*/ 0 h 6858000"/>
              <a:gd name="connsiteX1" fmla="*/ 12185300 w 12185300"/>
              <a:gd name="connsiteY1" fmla="*/ 0 h 6858000"/>
              <a:gd name="connsiteX2" fmla="*/ 12185300 w 12185300"/>
              <a:gd name="connsiteY2" fmla="*/ 6858000 h 6858000"/>
              <a:gd name="connsiteX3" fmla="*/ 5311608 w 12185300"/>
              <a:gd name="connsiteY3" fmla="*/ 6858000 h 6858000"/>
              <a:gd name="connsiteX4" fmla="*/ 11322197 w 12185300"/>
              <a:gd name="connsiteY4" fmla="*/ 4 h 6858000"/>
              <a:gd name="connsiteX5" fmla="*/ 11322198 w 12185300"/>
              <a:gd name="connsiteY5" fmla="*/ 2 h 6858000"/>
              <a:gd name="connsiteX6" fmla="*/ 11322200 w 12185300"/>
              <a:gd name="connsiteY6" fmla="*/ 0 h 6858000"/>
              <a:gd name="connsiteX7" fmla="*/ 0 w 12185300"/>
              <a:gd name="connsiteY7" fmla="*/ 6858000 h 6858000"/>
              <a:gd name="connsiteX8" fmla="*/ 0 w 12185300"/>
              <a:gd name="connsiteY8" fmla="*/ 0 h 6858000"/>
              <a:gd name="connsiteX9" fmla="*/ 0 w 12185300"/>
              <a:gd name="connsiteY9" fmla="*/ 6858000 h 6858000"/>
              <a:gd name="connsiteX0" fmla="*/ 6010592 w 6873692"/>
              <a:gd name="connsiteY0" fmla="*/ 0 h 6858000"/>
              <a:gd name="connsiteX1" fmla="*/ 6873692 w 6873692"/>
              <a:gd name="connsiteY1" fmla="*/ 0 h 6858000"/>
              <a:gd name="connsiteX2" fmla="*/ 6873692 w 6873692"/>
              <a:gd name="connsiteY2" fmla="*/ 6858000 h 6858000"/>
              <a:gd name="connsiteX3" fmla="*/ 0 w 6873692"/>
              <a:gd name="connsiteY3" fmla="*/ 6858000 h 6858000"/>
              <a:gd name="connsiteX4" fmla="*/ 6010589 w 6873692"/>
              <a:gd name="connsiteY4" fmla="*/ 4 h 6858000"/>
              <a:gd name="connsiteX5" fmla="*/ 6010590 w 6873692"/>
              <a:gd name="connsiteY5" fmla="*/ 2 h 6858000"/>
              <a:gd name="connsiteX6" fmla="*/ 6010592 w 6873692"/>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lnTo>
                  <a:pt x="6010592" y="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65FCBBA-905A-4FD1-BFBA-F3EE6DA264E0}"/>
              </a:ext>
            </a:extLst>
          </p:cNvPr>
          <p:cNvSpPr>
            <a:spLocks noGrp="1"/>
          </p:cNvSpPr>
          <p:nvPr>
            <p:ph type="ctrTitle"/>
          </p:nvPr>
        </p:nvSpPr>
        <p:spPr>
          <a:xfrm>
            <a:off x="1143000" y="1181098"/>
            <a:ext cx="8986580" cy="2832404"/>
          </a:xfrm>
        </p:spPr>
        <p:txBody>
          <a:bodyPr anchor="t">
            <a:normAutofit/>
          </a:bodyPr>
          <a:lstStyle>
            <a:lvl1pPr algn="l">
              <a:lnSpc>
                <a:spcPct val="100000"/>
              </a:lnSpc>
              <a:defRPr sz="4800" cap="all" spc="300" baseline="0"/>
            </a:lvl1pPr>
          </a:lstStyle>
          <a:p>
            <a:r>
              <a:rPr lang="en-US" dirty="0"/>
              <a:t>Click to edit Master title style</a:t>
            </a:r>
          </a:p>
        </p:txBody>
      </p:sp>
      <p:sp>
        <p:nvSpPr>
          <p:cNvPr id="3" name="Subtitle 2">
            <a:extLst>
              <a:ext uri="{FF2B5EF4-FFF2-40B4-BE49-F238E27FC236}">
                <a16:creationId xmlns:a16="http://schemas.microsoft.com/office/drawing/2014/main" id="{13DD287E-F1C8-463F-8429-D1B5B1582520}"/>
              </a:ext>
            </a:extLst>
          </p:cNvPr>
          <p:cNvSpPr>
            <a:spLocks noGrp="1"/>
          </p:cNvSpPr>
          <p:nvPr>
            <p:ph type="subTitle" idx="1"/>
          </p:nvPr>
        </p:nvSpPr>
        <p:spPr>
          <a:xfrm>
            <a:off x="1143000" y="5463522"/>
            <a:ext cx="8986580" cy="650311"/>
          </a:xfrm>
        </p:spPr>
        <p:txBody>
          <a:bodyPr>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81F44ED-7973-4A99-B2CA-A8962BCE0D5D}"/>
              </a:ext>
            </a:extLst>
          </p:cNvPr>
          <p:cNvSpPr>
            <a:spLocks noGrp="1"/>
          </p:cNvSpPr>
          <p:nvPr>
            <p:ph type="dt" sz="half" idx="10"/>
          </p:nvPr>
        </p:nvSpPr>
        <p:spPr/>
        <p:txBody>
          <a:bodyPr/>
          <a:lstStyle/>
          <a:p>
            <a:fld id="{3CADBD16-5BFB-4D9F-9646-C75D1B53BBB6}" type="datetimeFigureOut">
              <a:rPr lang="en-US" smtClean="0"/>
              <a:t>1/6/2026</a:t>
            </a:fld>
            <a:endParaRPr lang="en-US"/>
          </a:p>
        </p:txBody>
      </p:sp>
      <p:sp>
        <p:nvSpPr>
          <p:cNvPr id="5" name="Footer Placeholder 4">
            <a:extLst>
              <a:ext uri="{FF2B5EF4-FFF2-40B4-BE49-F238E27FC236}">
                <a16:creationId xmlns:a16="http://schemas.microsoft.com/office/drawing/2014/main" id="{08DF96F2-D6BE-49AC-A605-5AE87C3F2F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7FC50-B13C-4B63-AE64-F71A6EDE63B6}"/>
              </a:ext>
            </a:extLst>
          </p:cNvPr>
          <p:cNvSpPr>
            <a:spLocks noGrp="1"/>
          </p:cNvSpPr>
          <p:nvPr>
            <p:ph type="sldNum" sz="quarter" idx="12"/>
          </p:nvPr>
        </p:nvSpPr>
        <p:spPr/>
        <p:txBody>
          <a:bodyPr/>
          <a:lstStyle/>
          <a:p>
            <a:fld id="{C0722274-0FAA-4649-AA4E-4210F4F32167}" type="slidenum">
              <a:rPr lang="en-US" smtClean="0"/>
              <a:t>‹#›</a:t>
            </a:fld>
            <a:endParaRPr lang="en-US"/>
          </a:p>
        </p:txBody>
      </p:sp>
      <p:cxnSp>
        <p:nvCxnSpPr>
          <p:cNvPr id="12" name="Straight Connector 11">
            <a:extLst>
              <a:ext uri="{FF2B5EF4-FFF2-40B4-BE49-F238E27FC236}">
                <a16:creationId xmlns:a16="http://schemas.microsoft.com/office/drawing/2014/main" id="{4C75A547-BCD1-42BE-966E-53CA0AB93165}"/>
              </a:ext>
            </a:extLst>
          </p:cNvPr>
          <p:cNvCxnSpPr>
            <a:cxnSpLocks/>
          </p:cNvCxnSpPr>
          <p:nvPr/>
        </p:nvCxnSpPr>
        <p:spPr>
          <a:xfrm>
            <a:off x="1188357" y="5151666"/>
            <a:ext cx="98225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285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CD6F3-88F1-4195-8395-57AA096BB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8D06C-EB08-40B3-AFB3-A62F441122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3962F-B413-4C4C-A490-724DDB9E7DB9}"/>
              </a:ext>
            </a:extLst>
          </p:cNvPr>
          <p:cNvSpPr>
            <a:spLocks noGrp="1"/>
          </p:cNvSpPr>
          <p:nvPr>
            <p:ph type="dt" sz="half" idx="10"/>
          </p:nvPr>
        </p:nvSpPr>
        <p:spPr/>
        <p:txBody>
          <a:bodyPr/>
          <a:lstStyle/>
          <a:p>
            <a:fld id="{3CADBD16-5BFB-4D9F-9646-C75D1B53BBB6}" type="datetimeFigureOut">
              <a:rPr lang="en-US" smtClean="0"/>
              <a:t>1/6/2026</a:t>
            </a:fld>
            <a:endParaRPr lang="en-US"/>
          </a:p>
        </p:txBody>
      </p:sp>
      <p:sp>
        <p:nvSpPr>
          <p:cNvPr id="5" name="Footer Placeholder 4">
            <a:extLst>
              <a:ext uri="{FF2B5EF4-FFF2-40B4-BE49-F238E27FC236}">
                <a16:creationId xmlns:a16="http://schemas.microsoft.com/office/drawing/2014/main" id="{02871813-4E87-4C04-835D-76246010B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22BA3-033C-491E-A045-F0052AC19A8C}"/>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97629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19AD-2EDD-4B4F-9F9E-46A4441847A6}"/>
              </a:ext>
            </a:extLst>
          </p:cNvPr>
          <p:cNvSpPr>
            <a:spLocks noGrp="1"/>
          </p:cNvSpPr>
          <p:nvPr>
            <p:ph type="title"/>
          </p:nvPr>
        </p:nvSpPr>
        <p:spPr>
          <a:xfrm>
            <a:off x="1143000" y="1709738"/>
            <a:ext cx="8520952" cy="2852737"/>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00EE5927-21D5-4EBA-A112-CAD1BD38BCB1}"/>
              </a:ext>
            </a:extLst>
          </p:cNvPr>
          <p:cNvSpPr>
            <a:spLocks noGrp="1"/>
          </p:cNvSpPr>
          <p:nvPr>
            <p:ph type="body" idx="1"/>
          </p:nvPr>
        </p:nvSpPr>
        <p:spPr>
          <a:xfrm>
            <a:off x="1143000" y="4589466"/>
            <a:ext cx="8520952" cy="813266"/>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EF0D16-9D87-4D76-A5A5-534E24B7DD25}"/>
              </a:ext>
            </a:extLst>
          </p:cNvPr>
          <p:cNvSpPr>
            <a:spLocks noGrp="1"/>
          </p:cNvSpPr>
          <p:nvPr>
            <p:ph type="dt" sz="half" idx="10"/>
          </p:nvPr>
        </p:nvSpPr>
        <p:spPr/>
        <p:txBody>
          <a:bodyPr/>
          <a:lstStyle/>
          <a:p>
            <a:fld id="{3CADBD16-5BFB-4D9F-9646-C75D1B53BBB6}" type="datetimeFigureOut">
              <a:rPr lang="en-US" smtClean="0"/>
              <a:t>1/6/2026</a:t>
            </a:fld>
            <a:endParaRPr lang="en-US"/>
          </a:p>
        </p:txBody>
      </p:sp>
      <p:sp>
        <p:nvSpPr>
          <p:cNvPr id="5" name="Footer Placeholder 4">
            <a:extLst>
              <a:ext uri="{FF2B5EF4-FFF2-40B4-BE49-F238E27FC236}">
                <a16:creationId xmlns:a16="http://schemas.microsoft.com/office/drawing/2014/main" id="{5965F387-5AAC-45D0-ABCE-B1CF4BC7E0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F6FE-0006-4F40-A7FB-E0FDBADF7548}"/>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51506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AADE-587E-4574-B21B-7ABDE5A236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F9DA5-4DFB-4211-A58A-FFD842C27A65}"/>
              </a:ext>
            </a:extLst>
          </p:cNvPr>
          <p:cNvSpPr>
            <a:spLocks noGrp="1"/>
          </p:cNvSpPr>
          <p:nvPr>
            <p:ph sz="half" idx="1"/>
          </p:nvPr>
        </p:nvSpPr>
        <p:spPr>
          <a:xfrm>
            <a:off x="1143000" y="2339501"/>
            <a:ext cx="4798979" cy="35505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A99F26-66AF-4614-91CE-C93A24BAC23A}"/>
              </a:ext>
            </a:extLst>
          </p:cNvPr>
          <p:cNvSpPr>
            <a:spLocks noGrp="1"/>
          </p:cNvSpPr>
          <p:nvPr>
            <p:ph sz="half" idx="2"/>
          </p:nvPr>
        </p:nvSpPr>
        <p:spPr>
          <a:xfrm>
            <a:off x="6250020" y="2339501"/>
            <a:ext cx="4798980" cy="355059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F8F678E-59B5-4DF9-ABCB-506B9CB701CC}"/>
              </a:ext>
            </a:extLst>
          </p:cNvPr>
          <p:cNvSpPr>
            <a:spLocks noGrp="1"/>
          </p:cNvSpPr>
          <p:nvPr>
            <p:ph type="dt" sz="half" idx="10"/>
          </p:nvPr>
        </p:nvSpPr>
        <p:spPr/>
        <p:txBody>
          <a:bodyPr/>
          <a:lstStyle/>
          <a:p>
            <a:fld id="{3CADBD16-5BFB-4D9F-9646-C75D1B53BBB6}" type="datetimeFigureOut">
              <a:rPr lang="en-US" smtClean="0"/>
              <a:t>1/6/2026</a:t>
            </a:fld>
            <a:endParaRPr lang="en-US"/>
          </a:p>
        </p:txBody>
      </p:sp>
      <p:sp>
        <p:nvSpPr>
          <p:cNvPr id="6" name="Footer Placeholder 5">
            <a:extLst>
              <a:ext uri="{FF2B5EF4-FFF2-40B4-BE49-F238E27FC236}">
                <a16:creationId xmlns:a16="http://schemas.microsoft.com/office/drawing/2014/main" id="{18B50A53-317B-444A-9BA2-F69CDBF5D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B269A1-B0FB-4C8F-B6AA-0718C92D3D2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618471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2BBBF-42B2-4A5D-B145-46983A530170}"/>
              </a:ext>
            </a:extLst>
          </p:cNvPr>
          <p:cNvSpPr>
            <a:spLocks noGrp="1"/>
          </p:cNvSpPr>
          <p:nvPr>
            <p:ph type="title"/>
          </p:nvPr>
        </p:nvSpPr>
        <p:spPr>
          <a:xfrm>
            <a:off x="1143000" y="1133272"/>
            <a:ext cx="9905999" cy="84630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804BE44-5271-4B5D-B649-35E3AF20B48F}"/>
              </a:ext>
            </a:extLst>
          </p:cNvPr>
          <p:cNvSpPr>
            <a:spLocks noGrp="1"/>
          </p:cNvSpPr>
          <p:nvPr>
            <p:ph type="body" idx="1"/>
          </p:nvPr>
        </p:nvSpPr>
        <p:spPr>
          <a:xfrm>
            <a:off x="1142999" y="2067127"/>
            <a:ext cx="4798980"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4D7891E-0C0A-4688-97DD-C0715E322194}"/>
              </a:ext>
            </a:extLst>
          </p:cNvPr>
          <p:cNvSpPr>
            <a:spLocks noGrp="1"/>
          </p:cNvSpPr>
          <p:nvPr>
            <p:ph sz="half" idx="2"/>
          </p:nvPr>
        </p:nvSpPr>
        <p:spPr>
          <a:xfrm>
            <a:off x="1143001" y="2864795"/>
            <a:ext cx="4798978"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5EAF30-3412-49B0-93D1-596CC2695B26}"/>
              </a:ext>
            </a:extLst>
          </p:cNvPr>
          <p:cNvSpPr>
            <a:spLocks noGrp="1"/>
          </p:cNvSpPr>
          <p:nvPr>
            <p:ph type="body" sz="quarter" idx="3"/>
          </p:nvPr>
        </p:nvSpPr>
        <p:spPr>
          <a:xfrm>
            <a:off x="6250018" y="2067127"/>
            <a:ext cx="4798981"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707B9B7-F41C-4314-9F0C-BB84547FB8CA}"/>
              </a:ext>
            </a:extLst>
          </p:cNvPr>
          <p:cNvSpPr>
            <a:spLocks noGrp="1"/>
          </p:cNvSpPr>
          <p:nvPr>
            <p:ph sz="quarter" idx="4"/>
          </p:nvPr>
        </p:nvSpPr>
        <p:spPr>
          <a:xfrm>
            <a:off x="6250019" y="2864795"/>
            <a:ext cx="4798982"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421587F-6AFC-4906-86EB-6B0A86EEF300}"/>
              </a:ext>
            </a:extLst>
          </p:cNvPr>
          <p:cNvSpPr>
            <a:spLocks noGrp="1"/>
          </p:cNvSpPr>
          <p:nvPr>
            <p:ph type="dt" sz="half" idx="10"/>
          </p:nvPr>
        </p:nvSpPr>
        <p:spPr/>
        <p:txBody>
          <a:bodyPr/>
          <a:lstStyle/>
          <a:p>
            <a:fld id="{3CADBD16-5BFB-4D9F-9646-C75D1B53BBB6}" type="datetimeFigureOut">
              <a:rPr lang="en-US" smtClean="0"/>
              <a:t>1/6/2026</a:t>
            </a:fld>
            <a:endParaRPr lang="en-US"/>
          </a:p>
        </p:txBody>
      </p:sp>
      <p:sp>
        <p:nvSpPr>
          <p:cNvPr id="8" name="Footer Placeholder 7">
            <a:extLst>
              <a:ext uri="{FF2B5EF4-FFF2-40B4-BE49-F238E27FC236}">
                <a16:creationId xmlns:a16="http://schemas.microsoft.com/office/drawing/2014/main" id="{354BE2C5-583B-49BC-9864-B01EEF7987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39B236-45F5-4CC6-8D53-A6903A1CC8B3}"/>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399742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B206-0678-4577-B79F-760526A5FD76}"/>
              </a:ext>
            </a:extLst>
          </p:cNvPr>
          <p:cNvSpPr>
            <a:spLocks noGrp="1"/>
          </p:cNvSpPr>
          <p:nvPr>
            <p:ph type="title"/>
          </p:nvPr>
        </p:nvSpPr>
        <p:spPr>
          <a:xfrm>
            <a:off x="2019300" y="1322615"/>
            <a:ext cx="8175171" cy="4212771"/>
          </a:xfrm>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E6D5FCB8-AFD3-4801-BBD6-9548F4CF7C86}"/>
              </a:ext>
            </a:extLst>
          </p:cNvPr>
          <p:cNvSpPr>
            <a:spLocks noGrp="1"/>
          </p:cNvSpPr>
          <p:nvPr>
            <p:ph type="dt" sz="half" idx="10"/>
          </p:nvPr>
        </p:nvSpPr>
        <p:spPr/>
        <p:txBody>
          <a:bodyPr/>
          <a:lstStyle/>
          <a:p>
            <a:fld id="{3CADBD16-5BFB-4D9F-9646-C75D1B53BBB6}" type="datetimeFigureOut">
              <a:rPr lang="en-US" smtClean="0"/>
              <a:t>1/6/2026</a:t>
            </a:fld>
            <a:endParaRPr lang="en-US"/>
          </a:p>
        </p:txBody>
      </p:sp>
      <p:sp>
        <p:nvSpPr>
          <p:cNvPr id="4" name="Footer Placeholder 3">
            <a:extLst>
              <a:ext uri="{FF2B5EF4-FFF2-40B4-BE49-F238E27FC236}">
                <a16:creationId xmlns:a16="http://schemas.microsoft.com/office/drawing/2014/main" id="{0F6DACF8-CBC0-416B-B28E-EE18C4238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0C7421-FF49-4CE9-87D0-2B4FFE0E3DC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899840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19CBFE-15AA-4447-9F9C-D8B0BEB242DA}"/>
              </a:ext>
            </a:extLst>
          </p:cNvPr>
          <p:cNvSpPr>
            <a:spLocks noGrp="1"/>
          </p:cNvSpPr>
          <p:nvPr>
            <p:ph type="dt" sz="half" idx="10"/>
          </p:nvPr>
        </p:nvSpPr>
        <p:spPr/>
        <p:txBody>
          <a:bodyPr/>
          <a:lstStyle/>
          <a:p>
            <a:fld id="{3CADBD16-5BFB-4D9F-9646-C75D1B53BBB6}" type="datetimeFigureOut">
              <a:rPr lang="en-US" smtClean="0"/>
              <a:t>1/6/2026</a:t>
            </a:fld>
            <a:endParaRPr lang="en-US"/>
          </a:p>
        </p:txBody>
      </p:sp>
      <p:sp>
        <p:nvSpPr>
          <p:cNvPr id="3" name="Footer Placeholder 2">
            <a:extLst>
              <a:ext uri="{FF2B5EF4-FFF2-40B4-BE49-F238E27FC236}">
                <a16:creationId xmlns:a16="http://schemas.microsoft.com/office/drawing/2014/main" id="{C6B48227-EC1E-4063-9682-891A2DB1A8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2C6A63-C3F4-4563-A542-9A41AC946C3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779542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00C1-FE18-461C-801C-8626C7759861}"/>
              </a:ext>
            </a:extLst>
          </p:cNvPr>
          <p:cNvSpPr>
            <a:spLocks noGrp="1"/>
          </p:cNvSpPr>
          <p:nvPr>
            <p:ph type="title"/>
          </p:nvPr>
        </p:nvSpPr>
        <p:spPr>
          <a:xfrm>
            <a:off x="1143000" y="1600200"/>
            <a:ext cx="3932237" cy="1964986"/>
          </a:xfrm>
        </p:spPr>
        <p:txBody>
          <a:bodyPr anchor="b">
            <a:normAutofit/>
          </a:bodyPr>
          <a:lstStyle>
            <a:lvl1pPr>
              <a:lnSpc>
                <a:spcPct val="110000"/>
              </a:lnSpc>
              <a:defRPr sz="2400" cap="all" spc="3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B14CFF3-3406-49E3-9D5A-1BE90FFA508E}"/>
              </a:ext>
            </a:extLst>
          </p:cNvPr>
          <p:cNvSpPr>
            <a:spLocks noGrp="1"/>
          </p:cNvSpPr>
          <p:nvPr>
            <p:ph idx="1"/>
          </p:nvPr>
        </p:nvSpPr>
        <p:spPr>
          <a:xfrm>
            <a:off x="5627451" y="987425"/>
            <a:ext cx="542154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33D14FF-9082-4BBA-BC7A-F4C5B78599C5}"/>
              </a:ext>
            </a:extLst>
          </p:cNvPr>
          <p:cNvSpPr>
            <a:spLocks noGrp="1"/>
          </p:cNvSpPr>
          <p:nvPr>
            <p:ph type="body" sz="half" idx="2"/>
          </p:nvPr>
        </p:nvSpPr>
        <p:spPr>
          <a:xfrm>
            <a:off x="1143000" y="3662464"/>
            <a:ext cx="3932237" cy="2206523"/>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5A2726-EB8E-4DF7-9A1B-F03BD8C7179E}"/>
              </a:ext>
            </a:extLst>
          </p:cNvPr>
          <p:cNvSpPr>
            <a:spLocks noGrp="1"/>
          </p:cNvSpPr>
          <p:nvPr>
            <p:ph type="dt" sz="half" idx="10"/>
          </p:nvPr>
        </p:nvSpPr>
        <p:spPr/>
        <p:txBody>
          <a:bodyPr/>
          <a:lstStyle/>
          <a:p>
            <a:fld id="{3CADBD16-5BFB-4D9F-9646-C75D1B53BBB6}" type="datetimeFigureOut">
              <a:rPr lang="en-US" smtClean="0"/>
              <a:t>1/6/2026</a:t>
            </a:fld>
            <a:endParaRPr lang="en-US"/>
          </a:p>
        </p:txBody>
      </p:sp>
      <p:sp>
        <p:nvSpPr>
          <p:cNvPr id="6" name="Footer Placeholder 5">
            <a:extLst>
              <a:ext uri="{FF2B5EF4-FFF2-40B4-BE49-F238E27FC236}">
                <a16:creationId xmlns:a16="http://schemas.microsoft.com/office/drawing/2014/main" id="{8D9929BE-611C-4FE6-B0A5-E0FF9DF969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90B32-1D0E-4BCD-8850-59EA235F7EB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88633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CA1460E-1069-4FCA-B04E-28F77C861046}"/>
              </a:ext>
            </a:extLst>
          </p:cNvPr>
          <p:cNvSpPr>
            <a:spLocks noGrp="1"/>
          </p:cNvSpPr>
          <p:nvPr>
            <p:ph type="pic" idx="1"/>
          </p:nvPr>
        </p:nvSpPr>
        <p:spPr>
          <a:xfrm>
            <a:off x="5513614" y="987425"/>
            <a:ext cx="55353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6138C1E-867B-4FE9-8783-9B1246AEB797}"/>
              </a:ext>
            </a:extLst>
          </p:cNvPr>
          <p:cNvSpPr>
            <a:spLocks noGrp="1"/>
          </p:cNvSpPr>
          <p:nvPr>
            <p:ph type="body" sz="half" idx="2"/>
          </p:nvPr>
        </p:nvSpPr>
        <p:spPr>
          <a:xfrm>
            <a:off x="1143000" y="3657601"/>
            <a:ext cx="3932236" cy="2211388"/>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0721568-4870-46F2-9F7E-F410702012D9}"/>
              </a:ext>
            </a:extLst>
          </p:cNvPr>
          <p:cNvSpPr>
            <a:spLocks noGrp="1"/>
          </p:cNvSpPr>
          <p:nvPr>
            <p:ph type="dt" sz="half" idx="10"/>
          </p:nvPr>
        </p:nvSpPr>
        <p:spPr/>
        <p:txBody>
          <a:bodyPr/>
          <a:lstStyle/>
          <a:p>
            <a:fld id="{3CADBD16-5BFB-4D9F-9646-C75D1B53BBB6}" type="datetimeFigureOut">
              <a:rPr lang="en-US" smtClean="0"/>
              <a:t>1/6/2026</a:t>
            </a:fld>
            <a:endParaRPr lang="en-US"/>
          </a:p>
        </p:txBody>
      </p:sp>
      <p:sp>
        <p:nvSpPr>
          <p:cNvPr id="6" name="Footer Placeholder 5">
            <a:extLst>
              <a:ext uri="{FF2B5EF4-FFF2-40B4-BE49-F238E27FC236}">
                <a16:creationId xmlns:a16="http://schemas.microsoft.com/office/drawing/2014/main" id="{0BB3CC65-0E73-45A1-9D4F-3F4559B3B6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8C58CD-9BC3-431E-A7B4-D596A7F06C5E}"/>
              </a:ext>
            </a:extLst>
          </p:cNvPr>
          <p:cNvSpPr>
            <a:spLocks noGrp="1"/>
          </p:cNvSpPr>
          <p:nvPr>
            <p:ph type="sldNum" sz="quarter" idx="12"/>
          </p:nvPr>
        </p:nvSpPr>
        <p:spPr/>
        <p:txBody>
          <a:bodyPr/>
          <a:lstStyle/>
          <a:p>
            <a:fld id="{C0722274-0FAA-4649-AA4E-4210F4F32167}" type="slidenum">
              <a:rPr lang="en-US" smtClean="0"/>
              <a:t>‹#›</a:t>
            </a:fld>
            <a:endParaRPr lang="en-US"/>
          </a:p>
        </p:txBody>
      </p:sp>
      <p:sp>
        <p:nvSpPr>
          <p:cNvPr id="2" name="Title 1">
            <a:extLst>
              <a:ext uri="{FF2B5EF4-FFF2-40B4-BE49-F238E27FC236}">
                <a16:creationId xmlns:a16="http://schemas.microsoft.com/office/drawing/2014/main" id="{2368F756-D171-474C-8B1A-C818032F6F78}"/>
              </a:ext>
            </a:extLst>
          </p:cNvPr>
          <p:cNvSpPr>
            <a:spLocks noGrp="1"/>
          </p:cNvSpPr>
          <p:nvPr>
            <p:ph type="title"/>
          </p:nvPr>
        </p:nvSpPr>
        <p:spPr>
          <a:xfrm>
            <a:off x="1143000" y="1600201"/>
            <a:ext cx="3932236" cy="1959428"/>
          </a:xfrm>
        </p:spPr>
        <p:txBody>
          <a:bodyPr anchor="b">
            <a:normAutofit/>
          </a:bodyPr>
          <a:lstStyle>
            <a:lvl1pPr>
              <a:lnSpc>
                <a:spcPct val="110000"/>
              </a:lnSpc>
              <a:defRPr sz="2400" cap="all" spc="300" baseline="0"/>
            </a:lvl1pPr>
          </a:lstStyle>
          <a:p>
            <a:r>
              <a:rPr lang="en-US" dirty="0"/>
              <a:t>Click to edit Master title style</a:t>
            </a:r>
          </a:p>
        </p:txBody>
      </p:sp>
    </p:spTree>
    <p:extLst>
      <p:ext uri="{BB962C8B-B14F-4D97-AF65-F5344CB8AC3E}">
        <p14:creationId xmlns:p14="http://schemas.microsoft.com/office/powerpoint/2010/main" val="717882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A3BF2-BCE9-47D7-B1C0-1F0E4936B6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2722E9-C3E4-48AF-996A-495AE659FA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C9E516-382B-4845-93BF-20C16EE0DB05}"/>
              </a:ext>
            </a:extLst>
          </p:cNvPr>
          <p:cNvSpPr>
            <a:spLocks noGrp="1"/>
          </p:cNvSpPr>
          <p:nvPr>
            <p:ph type="dt" sz="half" idx="10"/>
          </p:nvPr>
        </p:nvSpPr>
        <p:spPr/>
        <p:txBody>
          <a:bodyPr/>
          <a:lstStyle/>
          <a:p>
            <a:fld id="{3CADBD16-5BFB-4D9F-9646-C75D1B53BBB6}" type="datetimeFigureOut">
              <a:rPr lang="en-US" smtClean="0"/>
              <a:t>1/6/2026</a:t>
            </a:fld>
            <a:endParaRPr lang="en-US"/>
          </a:p>
        </p:txBody>
      </p:sp>
      <p:sp>
        <p:nvSpPr>
          <p:cNvPr id="5" name="Footer Placeholder 4">
            <a:extLst>
              <a:ext uri="{FF2B5EF4-FFF2-40B4-BE49-F238E27FC236}">
                <a16:creationId xmlns:a16="http://schemas.microsoft.com/office/drawing/2014/main" id="{EAB96E16-F168-442A-843C-5D490D54B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61BEA-A969-437A-BD8B-CB1B709AD430}"/>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66599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528449-3E11-45FF-BF3A-651867603E75}"/>
              </a:ext>
            </a:extLst>
          </p:cNvPr>
          <p:cNvSpPr>
            <a:spLocks noGrp="1"/>
          </p:cNvSpPr>
          <p:nvPr>
            <p:ph type="title" orient="vert"/>
          </p:nvPr>
        </p:nvSpPr>
        <p:spPr>
          <a:xfrm>
            <a:off x="8572500" y="870625"/>
            <a:ext cx="2476499" cy="50292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AFC0EAB0-2DFA-4CBA-86B1-1826EF523D4D}"/>
              </a:ext>
            </a:extLst>
          </p:cNvPr>
          <p:cNvSpPr>
            <a:spLocks noGrp="1"/>
          </p:cNvSpPr>
          <p:nvPr>
            <p:ph type="body" orient="vert" idx="1"/>
          </p:nvPr>
        </p:nvSpPr>
        <p:spPr>
          <a:xfrm>
            <a:off x="1143000" y="870625"/>
            <a:ext cx="7324928" cy="50292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FA22F89-E1F5-45D7-945A-8A2886C4BA59}"/>
              </a:ext>
            </a:extLst>
          </p:cNvPr>
          <p:cNvSpPr>
            <a:spLocks noGrp="1"/>
          </p:cNvSpPr>
          <p:nvPr>
            <p:ph type="dt" sz="half" idx="10"/>
          </p:nvPr>
        </p:nvSpPr>
        <p:spPr/>
        <p:txBody>
          <a:bodyPr/>
          <a:lstStyle/>
          <a:p>
            <a:fld id="{3CADBD16-5BFB-4D9F-9646-C75D1B53BBB6}" type="datetimeFigureOut">
              <a:rPr lang="en-US" smtClean="0"/>
              <a:t>1/6/2026</a:t>
            </a:fld>
            <a:endParaRPr lang="en-US"/>
          </a:p>
        </p:txBody>
      </p:sp>
      <p:sp>
        <p:nvSpPr>
          <p:cNvPr id="5" name="Footer Placeholder 4">
            <a:extLst>
              <a:ext uri="{FF2B5EF4-FFF2-40B4-BE49-F238E27FC236}">
                <a16:creationId xmlns:a16="http://schemas.microsoft.com/office/drawing/2014/main" id="{637E7E82-5FB8-4289-AD0C-0BA788E14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A4046-1A2C-41F5-A177-1C3919C20569}"/>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394479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1C2F78B-DEE8-4195-A196-DFC51BDADFF9}"/>
              </a:ext>
            </a:extLst>
          </p:cNvPr>
          <p:cNvSpPr/>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A1D79D08-4BE8-4799-BE09-5078DFEE2256}"/>
              </a:ext>
            </a:extLst>
          </p:cNvPr>
          <p:cNvSpPr/>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2" name="Straight Connector 11">
            <a:extLst>
              <a:ext uri="{FF2B5EF4-FFF2-40B4-BE49-F238E27FC236}">
                <a16:creationId xmlns:a16="http://schemas.microsoft.com/office/drawing/2014/main" id="{C95D65A1-16CB-407F-993F-2A6D59BCC0C8}"/>
              </a:ext>
            </a:extLst>
          </p:cNvPr>
          <p:cNvCxnSpPr>
            <a:cxnSpLocks/>
          </p:cNvCxnSpPr>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0BA018A2-815D-41B0-A189-FDF7A5E88891}"/>
              </a:ext>
            </a:extLst>
          </p:cNvPr>
          <p:cNvSpPr>
            <a:spLocks noGrp="1"/>
          </p:cNvSpPr>
          <p:nvPr>
            <p:ph type="title"/>
          </p:nvPr>
        </p:nvSpPr>
        <p:spPr>
          <a:xfrm>
            <a:off x="1143000" y="872935"/>
            <a:ext cx="9905999" cy="13608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DFAE63-1276-4C7C-BFF5-F5DF1CDB23E5}"/>
              </a:ext>
            </a:extLst>
          </p:cNvPr>
          <p:cNvSpPr>
            <a:spLocks noGrp="1"/>
          </p:cNvSpPr>
          <p:nvPr>
            <p:ph type="body" idx="1"/>
          </p:nvPr>
        </p:nvSpPr>
        <p:spPr>
          <a:xfrm>
            <a:off x="1143000" y="2332026"/>
            <a:ext cx="9905999" cy="356711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5380268-2D73-487C-843B-51648AE18194}"/>
              </a:ext>
            </a:extLst>
          </p:cNvPr>
          <p:cNvSpPr>
            <a:spLocks noGrp="1"/>
          </p:cNvSpPr>
          <p:nvPr>
            <p:ph type="dt" sz="half" idx="2"/>
          </p:nvPr>
        </p:nvSpPr>
        <p:spPr>
          <a:xfrm>
            <a:off x="7388157" y="6356350"/>
            <a:ext cx="3093395" cy="365125"/>
          </a:xfrm>
          <a:prstGeom prst="rect">
            <a:avLst/>
          </a:prstGeom>
        </p:spPr>
        <p:txBody>
          <a:bodyPr vert="horz" lIns="91440" tIns="45720" rIns="91440" bIns="45720" rtlCol="0" anchor="ctr"/>
          <a:lstStyle>
            <a:lvl1pPr algn="r">
              <a:defRPr sz="1050">
                <a:solidFill>
                  <a:schemeClr val="tx1"/>
                </a:solidFill>
              </a:defRPr>
            </a:lvl1pPr>
          </a:lstStyle>
          <a:p>
            <a:fld id="{3CADBD16-5BFB-4D9F-9646-C75D1B53BBB6}" type="datetimeFigureOut">
              <a:rPr lang="en-US" smtClean="0"/>
              <a:pPr/>
              <a:t>1/6/2026</a:t>
            </a:fld>
            <a:endParaRPr lang="en-US" dirty="0"/>
          </a:p>
        </p:txBody>
      </p:sp>
      <p:sp>
        <p:nvSpPr>
          <p:cNvPr id="5" name="Footer Placeholder 4">
            <a:extLst>
              <a:ext uri="{FF2B5EF4-FFF2-40B4-BE49-F238E27FC236}">
                <a16:creationId xmlns:a16="http://schemas.microsoft.com/office/drawing/2014/main" id="{99F61E6D-D51F-4BD7-B59D-19AF179177B8}"/>
              </a:ext>
            </a:extLst>
          </p:cNvPr>
          <p:cNvSpPr>
            <a:spLocks noGrp="1"/>
          </p:cNvSpPr>
          <p:nvPr>
            <p:ph type="ftr" sz="quarter" idx="3"/>
          </p:nvPr>
        </p:nvSpPr>
        <p:spPr>
          <a:xfrm>
            <a:off x="1143000" y="6356350"/>
            <a:ext cx="3959157" cy="365125"/>
          </a:xfrm>
          <a:prstGeom prst="rect">
            <a:avLst/>
          </a:prstGeom>
        </p:spPr>
        <p:txBody>
          <a:bodyPr vert="horz" lIns="91440" tIns="45720" rIns="91440" bIns="45720" rtlCol="0" anchor="ctr"/>
          <a:lstStyle>
            <a:lvl1pPr algn="l">
              <a:defRPr sz="105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27701B1-1C93-41C2-AEE1-815DEA51B962}"/>
              </a:ext>
            </a:extLst>
          </p:cNvPr>
          <p:cNvSpPr>
            <a:spLocks noGrp="1"/>
          </p:cNvSpPr>
          <p:nvPr>
            <p:ph type="sldNum" sz="quarter" idx="4"/>
          </p:nvPr>
        </p:nvSpPr>
        <p:spPr>
          <a:xfrm>
            <a:off x="10423186" y="6356350"/>
            <a:ext cx="625813" cy="365125"/>
          </a:xfrm>
          <a:prstGeom prst="rect">
            <a:avLst/>
          </a:prstGeom>
        </p:spPr>
        <p:txBody>
          <a:bodyPr vert="horz" lIns="91440" tIns="45720" rIns="91440" bIns="45720" rtlCol="0" anchor="ctr"/>
          <a:lstStyle>
            <a:lvl1pPr algn="r">
              <a:defRPr sz="1050">
                <a:solidFill>
                  <a:schemeClr val="tx1"/>
                </a:solidFill>
              </a:defRPr>
            </a:lvl1p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176092827"/>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15" r:id="rId6"/>
    <p:sldLayoutId id="2147483711" r:id="rId7"/>
    <p:sldLayoutId id="2147483712" r:id="rId8"/>
    <p:sldLayoutId id="2147483713" r:id="rId9"/>
    <p:sldLayoutId id="2147483714" r:id="rId10"/>
    <p:sldLayoutId id="2147483716" r:id="rId11"/>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Tx/>
        <a:buNone/>
        <a:defRPr sz="1800" i="1" kern="1200">
          <a:solidFill>
            <a:schemeClr val="tx1"/>
          </a:solidFill>
          <a:latin typeface="+mn-lt"/>
          <a:ea typeface="+mn-ea"/>
          <a:cs typeface="+mn-cs"/>
        </a:defRPr>
      </a:lvl2pPr>
      <a:lvl3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502920" indent="0" algn="l" defTabSz="914400" rtl="0" eaLnBrk="1" latinLnBrk="0" hangingPunct="1">
        <a:lnSpc>
          <a:spcPct val="120000"/>
        </a:lnSpc>
        <a:spcBef>
          <a:spcPts val="500"/>
        </a:spcBef>
        <a:buFontTx/>
        <a:buNone/>
        <a:defRPr sz="1400" i="1" kern="1200">
          <a:solidFill>
            <a:schemeClr val="tx1"/>
          </a:solidFill>
          <a:latin typeface="+mn-lt"/>
          <a:ea typeface="+mn-ea"/>
          <a:cs typeface="+mn-cs"/>
        </a:defRPr>
      </a:lvl4pPr>
      <a:lvl5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BF1DCD9-4684-4B84-AD73-6652C8BAC7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F0D7A61-5869-B99D-E0C9-06532762EA24}"/>
              </a:ext>
            </a:extLst>
          </p:cNvPr>
          <p:cNvPicPr>
            <a:picLocks noChangeAspect="1"/>
          </p:cNvPicPr>
          <p:nvPr/>
        </p:nvPicPr>
        <p:blipFill>
          <a:blip r:embed="rId2"/>
          <a:srcRect b="15780"/>
          <a:stretch>
            <a:fillRect/>
          </a:stretch>
        </p:blipFill>
        <p:spPr>
          <a:xfrm>
            <a:off x="0" y="11"/>
            <a:ext cx="12199237" cy="6857989"/>
          </a:xfrm>
          <a:prstGeom prst="rect">
            <a:avLst/>
          </a:prstGeom>
        </p:spPr>
      </p:pic>
      <p:sp>
        <p:nvSpPr>
          <p:cNvPr id="45" name="Freeform: Shape 10">
            <a:extLst>
              <a:ext uri="{FF2B5EF4-FFF2-40B4-BE49-F238E27FC236}">
                <a16:creationId xmlns:a16="http://schemas.microsoft.com/office/drawing/2014/main" id="{4BE6A732-8124-4A59-8EC9-BF4A1648A0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2226538" y="-2233466"/>
            <a:ext cx="6858000" cy="11324929"/>
          </a:xfrm>
          <a:custGeom>
            <a:avLst/>
            <a:gdLst>
              <a:gd name="connsiteX0" fmla="*/ 0 w 6858000"/>
              <a:gd name="connsiteY0" fmla="*/ 9303227 h 11262142"/>
              <a:gd name="connsiteX1" fmla="*/ 0 w 6858000"/>
              <a:gd name="connsiteY1" fmla="*/ 6495555 h 11262142"/>
              <a:gd name="connsiteX2" fmla="*/ 1 w 6858000"/>
              <a:gd name="connsiteY2" fmla="*/ 6495555 h 11262142"/>
              <a:gd name="connsiteX3" fmla="*/ 1 w 6858000"/>
              <a:gd name="connsiteY3" fmla="*/ 0 h 11262142"/>
              <a:gd name="connsiteX4" fmla="*/ 6858000 w 6858000"/>
              <a:gd name="connsiteY4" fmla="*/ 6015407 h 11262142"/>
              <a:gd name="connsiteX5" fmla="*/ 6858000 w 6858000"/>
              <a:gd name="connsiteY5" fmla="*/ 8999698 h 11262142"/>
              <a:gd name="connsiteX6" fmla="*/ 6858000 w 6858000"/>
              <a:gd name="connsiteY6" fmla="*/ 11262142 h 11262142"/>
              <a:gd name="connsiteX7" fmla="*/ 1 w 6858000"/>
              <a:gd name="connsiteY7" fmla="*/ 11262142 h 11262142"/>
              <a:gd name="connsiteX8" fmla="*/ 1 w 6858000"/>
              <a:gd name="connsiteY8" fmla="*/ 9303227 h 1126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1262142">
                <a:moveTo>
                  <a:pt x="0" y="9303227"/>
                </a:moveTo>
                <a:lnTo>
                  <a:pt x="0" y="6495555"/>
                </a:lnTo>
                <a:lnTo>
                  <a:pt x="1" y="6495555"/>
                </a:lnTo>
                <a:lnTo>
                  <a:pt x="1" y="0"/>
                </a:lnTo>
                <a:lnTo>
                  <a:pt x="6858000" y="6015407"/>
                </a:lnTo>
                <a:lnTo>
                  <a:pt x="6858000" y="8999698"/>
                </a:lnTo>
                <a:lnTo>
                  <a:pt x="6858000" y="11262142"/>
                </a:lnTo>
                <a:lnTo>
                  <a:pt x="1" y="11262142"/>
                </a:lnTo>
                <a:lnTo>
                  <a:pt x="1" y="9303227"/>
                </a:lnTo>
                <a:close/>
              </a:path>
            </a:pathLst>
          </a:cu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u 1">
            <a:extLst>
              <a:ext uri="{FF2B5EF4-FFF2-40B4-BE49-F238E27FC236}">
                <a16:creationId xmlns:a16="http://schemas.microsoft.com/office/drawing/2014/main" id="{813C9F95-BB9A-1B1B-CDAC-7DDAC1BC4835}"/>
              </a:ext>
            </a:extLst>
          </p:cNvPr>
          <p:cNvSpPr>
            <a:spLocks noGrp="1"/>
          </p:cNvSpPr>
          <p:nvPr>
            <p:ph type="ctrTitle"/>
          </p:nvPr>
        </p:nvSpPr>
        <p:spPr>
          <a:xfrm>
            <a:off x="1160890" y="1061686"/>
            <a:ext cx="8266139" cy="3793336"/>
          </a:xfrm>
        </p:spPr>
        <p:txBody>
          <a:bodyPr anchor="t">
            <a:normAutofit/>
          </a:bodyPr>
          <a:lstStyle/>
          <a:p>
            <a:r>
              <a:rPr lang="en-US" sz="6600">
                <a:solidFill>
                  <a:srgbClr val="FFFFFF"/>
                </a:solidFill>
              </a:rPr>
              <a:t>Project Part 2. Nonlinear ARX identification</a:t>
            </a:r>
          </a:p>
        </p:txBody>
      </p:sp>
      <p:sp>
        <p:nvSpPr>
          <p:cNvPr id="3" name="Subtitlu 2">
            <a:extLst>
              <a:ext uri="{FF2B5EF4-FFF2-40B4-BE49-F238E27FC236}">
                <a16:creationId xmlns:a16="http://schemas.microsoft.com/office/drawing/2014/main" id="{B89E6D1C-C991-58BC-68ED-DCD59AFF856B}"/>
              </a:ext>
            </a:extLst>
          </p:cNvPr>
          <p:cNvSpPr>
            <a:spLocks noGrp="1"/>
          </p:cNvSpPr>
          <p:nvPr>
            <p:ph type="subTitle" idx="1"/>
          </p:nvPr>
        </p:nvSpPr>
        <p:spPr>
          <a:xfrm>
            <a:off x="1143000" y="5453796"/>
            <a:ext cx="4264677" cy="732996"/>
          </a:xfrm>
        </p:spPr>
        <p:txBody>
          <a:bodyPr anchor="t">
            <a:normAutofit lnSpcReduction="10000"/>
          </a:bodyPr>
          <a:lstStyle/>
          <a:p>
            <a:r>
              <a:rPr lang="en-US" noProof="0" dirty="0">
                <a:solidFill>
                  <a:srgbClr val="FFFFFF"/>
                </a:solidFill>
              </a:rPr>
              <a:t>By: Criste George, Fogoș Mihai, </a:t>
            </a:r>
          </a:p>
          <a:p>
            <a:r>
              <a:rPr lang="en-US" noProof="0" dirty="0">
                <a:solidFill>
                  <a:srgbClr val="FFFFFF"/>
                </a:solidFill>
              </a:rPr>
              <a:t>Nichita Marcus</a:t>
            </a:r>
          </a:p>
          <a:p>
            <a:endParaRPr lang="en-US" dirty="0">
              <a:solidFill>
                <a:srgbClr val="FFFFFF"/>
              </a:solidFill>
            </a:endParaRPr>
          </a:p>
        </p:txBody>
      </p:sp>
      <p:cxnSp>
        <p:nvCxnSpPr>
          <p:cNvPr id="46" name="Straight Connector 12">
            <a:extLst>
              <a:ext uri="{FF2B5EF4-FFF2-40B4-BE49-F238E27FC236}">
                <a16:creationId xmlns:a16="http://schemas.microsoft.com/office/drawing/2014/main" id="{EFDAA6A4-1F42-460B-A500-921EEB4BC01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8357" y="5151666"/>
            <a:ext cx="986064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4889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8">
            <a:extLst>
              <a:ext uri="{FF2B5EF4-FFF2-40B4-BE49-F238E27FC236}">
                <a16:creationId xmlns:a16="http://schemas.microsoft.com/office/drawing/2014/main" id="{327AB4C5-0719-4E35-87CD-199EB59E3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F51EE1E-6258-4F09-963A-853315C6F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1127553" y="-1127553"/>
            <a:ext cx="6858000" cy="9113106"/>
          </a:xfrm>
          <a:custGeom>
            <a:avLst/>
            <a:gdLst>
              <a:gd name="connsiteX0" fmla="*/ 0 w 6858000"/>
              <a:gd name="connsiteY0" fmla="*/ 7143270 h 9113106"/>
              <a:gd name="connsiteX1" fmla="*/ 0 w 6858000"/>
              <a:gd name="connsiteY1" fmla="*/ 6878623 h 9113106"/>
              <a:gd name="connsiteX2" fmla="*/ 1 w 6858000"/>
              <a:gd name="connsiteY2" fmla="*/ 6878623 h 9113106"/>
              <a:gd name="connsiteX3" fmla="*/ 0 w 6858000"/>
              <a:gd name="connsiteY3" fmla="*/ 4319945 h 9113106"/>
              <a:gd name="connsiteX4" fmla="*/ 1 w 6858000"/>
              <a:gd name="connsiteY4" fmla="*/ 4319945 h 9113106"/>
              <a:gd name="connsiteX5" fmla="*/ 1 w 6858000"/>
              <a:gd name="connsiteY5" fmla="*/ 13542 h 9113106"/>
              <a:gd name="connsiteX6" fmla="*/ 0 w 6858000"/>
              <a:gd name="connsiteY6" fmla="*/ 13540 h 9113106"/>
              <a:gd name="connsiteX7" fmla="*/ 0 w 6858000"/>
              <a:gd name="connsiteY7" fmla="*/ 0 h 9113106"/>
              <a:gd name="connsiteX8" fmla="*/ 6858000 w 6858000"/>
              <a:gd name="connsiteY8" fmla="*/ 6010591 h 9113106"/>
              <a:gd name="connsiteX9" fmla="*/ 6858000 w 6858000"/>
              <a:gd name="connsiteY9" fmla="*/ 3794798 h 9113106"/>
              <a:gd name="connsiteX10" fmla="*/ 6858000 w 6858000"/>
              <a:gd name="connsiteY10" fmla="*/ 3794798 h 9113106"/>
              <a:gd name="connsiteX11" fmla="*/ 6858000 w 6858000"/>
              <a:gd name="connsiteY11" fmla="*/ 3837120 h 9113106"/>
              <a:gd name="connsiteX12" fmla="*/ 6858000 w 6858000"/>
              <a:gd name="connsiteY12" fmla="*/ 6838049 h 9113106"/>
              <a:gd name="connsiteX13" fmla="*/ 6858000 w 6858000"/>
              <a:gd name="connsiteY13" fmla="*/ 9113106 h 9113106"/>
              <a:gd name="connsiteX14" fmla="*/ 1 w 6858000"/>
              <a:gd name="connsiteY14" fmla="*/ 9113106 h 9113106"/>
              <a:gd name="connsiteX15" fmla="*/ 1 w 6858000"/>
              <a:gd name="connsiteY15" fmla="*/ 7143270 h 9113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8000" h="9113106">
                <a:moveTo>
                  <a:pt x="0" y="7143270"/>
                </a:moveTo>
                <a:lnTo>
                  <a:pt x="0" y="6878623"/>
                </a:lnTo>
                <a:lnTo>
                  <a:pt x="1" y="6878623"/>
                </a:lnTo>
                <a:lnTo>
                  <a:pt x="0" y="4319945"/>
                </a:lnTo>
                <a:lnTo>
                  <a:pt x="1" y="4319945"/>
                </a:lnTo>
                <a:lnTo>
                  <a:pt x="1" y="13542"/>
                </a:lnTo>
                <a:lnTo>
                  <a:pt x="0" y="13540"/>
                </a:lnTo>
                <a:lnTo>
                  <a:pt x="0" y="0"/>
                </a:lnTo>
                <a:lnTo>
                  <a:pt x="6858000" y="6010591"/>
                </a:lnTo>
                <a:lnTo>
                  <a:pt x="6858000" y="3794798"/>
                </a:lnTo>
                <a:lnTo>
                  <a:pt x="6858000" y="3794798"/>
                </a:lnTo>
                <a:lnTo>
                  <a:pt x="6858000" y="3837120"/>
                </a:lnTo>
                <a:lnTo>
                  <a:pt x="6858000" y="6838049"/>
                </a:lnTo>
                <a:lnTo>
                  <a:pt x="6858000" y="9113106"/>
                </a:lnTo>
                <a:lnTo>
                  <a:pt x="1" y="9113106"/>
                </a:lnTo>
                <a:lnTo>
                  <a:pt x="1" y="714327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u 1">
            <a:extLst>
              <a:ext uri="{FF2B5EF4-FFF2-40B4-BE49-F238E27FC236}">
                <a16:creationId xmlns:a16="http://schemas.microsoft.com/office/drawing/2014/main" id="{577ADD13-173F-8FCF-5A13-C98299BCF972}"/>
              </a:ext>
            </a:extLst>
          </p:cNvPr>
          <p:cNvSpPr>
            <a:spLocks noGrp="1"/>
          </p:cNvSpPr>
          <p:nvPr>
            <p:ph type="title"/>
          </p:nvPr>
        </p:nvSpPr>
        <p:spPr>
          <a:xfrm>
            <a:off x="1143001" y="872935"/>
            <a:ext cx="5999018" cy="1360898"/>
          </a:xfrm>
        </p:spPr>
        <p:txBody>
          <a:bodyPr>
            <a:normAutofit/>
          </a:bodyPr>
          <a:lstStyle/>
          <a:p>
            <a:r>
              <a:rPr lang="en-US" dirty="0"/>
              <a:t>Our Task</a:t>
            </a:r>
          </a:p>
        </p:txBody>
      </p:sp>
      <p:sp>
        <p:nvSpPr>
          <p:cNvPr id="3" name="Substituent conținut 2">
            <a:extLst>
              <a:ext uri="{FF2B5EF4-FFF2-40B4-BE49-F238E27FC236}">
                <a16:creationId xmlns:a16="http://schemas.microsoft.com/office/drawing/2014/main" id="{DC91A709-870F-7768-E14B-16836E8CC9CA}"/>
              </a:ext>
            </a:extLst>
          </p:cNvPr>
          <p:cNvSpPr>
            <a:spLocks noGrp="1"/>
          </p:cNvSpPr>
          <p:nvPr>
            <p:ph idx="1"/>
          </p:nvPr>
        </p:nvSpPr>
        <p:spPr>
          <a:xfrm>
            <a:off x="1143001" y="2332026"/>
            <a:ext cx="4953000" cy="3567118"/>
          </a:xfrm>
        </p:spPr>
        <p:txBody>
          <a:bodyPr anchor="t">
            <a:normAutofit/>
          </a:bodyPr>
          <a:lstStyle/>
          <a:p>
            <a:r>
              <a:rPr lang="en-US" dirty="0"/>
              <a:t>We were given two data sets, one for the identification part and one for validation part of the project, each of them containing input and output variables. </a:t>
            </a:r>
          </a:p>
          <a:p>
            <a:r>
              <a:rPr lang="en-US" dirty="0"/>
              <a:t>We had to develop a black-box model for the given system using a nonlinear ARX model implementation.</a:t>
            </a:r>
            <a:endParaRPr lang="en-US" b="1" dirty="0"/>
          </a:p>
        </p:txBody>
      </p:sp>
      <p:pic>
        <p:nvPicPr>
          <p:cNvPr id="7" name="Graphic 6" descr="Schemă logică">
            <a:extLst>
              <a:ext uri="{FF2B5EF4-FFF2-40B4-BE49-F238E27FC236}">
                <a16:creationId xmlns:a16="http://schemas.microsoft.com/office/drawing/2014/main" id="{85AB43D2-82A1-6619-78C9-E62C5B860A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57310" y="1931097"/>
            <a:ext cx="3327437" cy="3327437"/>
          </a:xfrm>
          <a:prstGeom prst="rect">
            <a:avLst/>
          </a:prstGeom>
        </p:spPr>
      </p:pic>
      <p:cxnSp>
        <p:nvCxnSpPr>
          <p:cNvPr id="23" name="Straight Connector 22">
            <a:extLst>
              <a:ext uri="{FF2B5EF4-FFF2-40B4-BE49-F238E27FC236}">
                <a16:creationId xmlns:a16="http://schemas.microsoft.com/office/drawing/2014/main" id="{7FA07B03-7E5B-4F33-A494-D72BC5BEB0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2161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27AB4C5-0719-4E35-87CD-199EB59E3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F51EE1E-6258-4F09-963A-853315C6F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1127553" y="-1127553"/>
            <a:ext cx="6858000" cy="9113106"/>
          </a:xfrm>
          <a:custGeom>
            <a:avLst/>
            <a:gdLst>
              <a:gd name="connsiteX0" fmla="*/ 0 w 6858000"/>
              <a:gd name="connsiteY0" fmla="*/ 7143270 h 9113106"/>
              <a:gd name="connsiteX1" fmla="*/ 0 w 6858000"/>
              <a:gd name="connsiteY1" fmla="*/ 6878623 h 9113106"/>
              <a:gd name="connsiteX2" fmla="*/ 1 w 6858000"/>
              <a:gd name="connsiteY2" fmla="*/ 6878623 h 9113106"/>
              <a:gd name="connsiteX3" fmla="*/ 0 w 6858000"/>
              <a:gd name="connsiteY3" fmla="*/ 4319945 h 9113106"/>
              <a:gd name="connsiteX4" fmla="*/ 1 w 6858000"/>
              <a:gd name="connsiteY4" fmla="*/ 4319945 h 9113106"/>
              <a:gd name="connsiteX5" fmla="*/ 1 w 6858000"/>
              <a:gd name="connsiteY5" fmla="*/ 13542 h 9113106"/>
              <a:gd name="connsiteX6" fmla="*/ 0 w 6858000"/>
              <a:gd name="connsiteY6" fmla="*/ 13540 h 9113106"/>
              <a:gd name="connsiteX7" fmla="*/ 0 w 6858000"/>
              <a:gd name="connsiteY7" fmla="*/ 0 h 9113106"/>
              <a:gd name="connsiteX8" fmla="*/ 6858000 w 6858000"/>
              <a:gd name="connsiteY8" fmla="*/ 6010591 h 9113106"/>
              <a:gd name="connsiteX9" fmla="*/ 6858000 w 6858000"/>
              <a:gd name="connsiteY9" fmla="*/ 3794798 h 9113106"/>
              <a:gd name="connsiteX10" fmla="*/ 6858000 w 6858000"/>
              <a:gd name="connsiteY10" fmla="*/ 3794798 h 9113106"/>
              <a:gd name="connsiteX11" fmla="*/ 6858000 w 6858000"/>
              <a:gd name="connsiteY11" fmla="*/ 3837120 h 9113106"/>
              <a:gd name="connsiteX12" fmla="*/ 6858000 w 6858000"/>
              <a:gd name="connsiteY12" fmla="*/ 6838049 h 9113106"/>
              <a:gd name="connsiteX13" fmla="*/ 6858000 w 6858000"/>
              <a:gd name="connsiteY13" fmla="*/ 9113106 h 9113106"/>
              <a:gd name="connsiteX14" fmla="*/ 1 w 6858000"/>
              <a:gd name="connsiteY14" fmla="*/ 9113106 h 9113106"/>
              <a:gd name="connsiteX15" fmla="*/ 1 w 6858000"/>
              <a:gd name="connsiteY15" fmla="*/ 7143270 h 9113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8000" h="9113106">
                <a:moveTo>
                  <a:pt x="0" y="7143270"/>
                </a:moveTo>
                <a:lnTo>
                  <a:pt x="0" y="6878623"/>
                </a:lnTo>
                <a:lnTo>
                  <a:pt x="1" y="6878623"/>
                </a:lnTo>
                <a:lnTo>
                  <a:pt x="0" y="4319945"/>
                </a:lnTo>
                <a:lnTo>
                  <a:pt x="1" y="4319945"/>
                </a:lnTo>
                <a:lnTo>
                  <a:pt x="1" y="13542"/>
                </a:lnTo>
                <a:lnTo>
                  <a:pt x="0" y="13540"/>
                </a:lnTo>
                <a:lnTo>
                  <a:pt x="0" y="0"/>
                </a:lnTo>
                <a:lnTo>
                  <a:pt x="6858000" y="6010591"/>
                </a:lnTo>
                <a:lnTo>
                  <a:pt x="6858000" y="3794798"/>
                </a:lnTo>
                <a:lnTo>
                  <a:pt x="6858000" y="3794798"/>
                </a:lnTo>
                <a:lnTo>
                  <a:pt x="6858000" y="3837120"/>
                </a:lnTo>
                <a:lnTo>
                  <a:pt x="6858000" y="6838049"/>
                </a:lnTo>
                <a:lnTo>
                  <a:pt x="6858000" y="9113106"/>
                </a:lnTo>
                <a:lnTo>
                  <a:pt x="1" y="9113106"/>
                </a:lnTo>
                <a:lnTo>
                  <a:pt x="1" y="714327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u 1">
            <a:extLst>
              <a:ext uri="{FF2B5EF4-FFF2-40B4-BE49-F238E27FC236}">
                <a16:creationId xmlns:a16="http://schemas.microsoft.com/office/drawing/2014/main" id="{87AF3A71-7C81-7911-192A-08568A53469F}"/>
              </a:ext>
            </a:extLst>
          </p:cNvPr>
          <p:cNvSpPr>
            <a:spLocks noGrp="1"/>
          </p:cNvSpPr>
          <p:nvPr>
            <p:ph type="title"/>
          </p:nvPr>
        </p:nvSpPr>
        <p:spPr>
          <a:xfrm>
            <a:off x="1143001" y="872935"/>
            <a:ext cx="5999018" cy="1360898"/>
          </a:xfrm>
        </p:spPr>
        <p:txBody>
          <a:bodyPr>
            <a:normAutofit/>
          </a:bodyPr>
          <a:lstStyle/>
          <a:p>
            <a:r>
              <a:rPr lang="en-US" dirty="0"/>
              <a:t>Nonlinear ARX Approximator Structure</a:t>
            </a:r>
          </a:p>
        </p:txBody>
      </p:sp>
      <mc:AlternateContent xmlns:mc="http://schemas.openxmlformats.org/markup-compatibility/2006">
        <mc:Choice xmlns:a14="http://schemas.microsoft.com/office/drawing/2010/main" Requires="a14">
          <p:sp>
            <p:nvSpPr>
              <p:cNvPr id="3" name="Substituent conținut 2">
                <a:extLst>
                  <a:ext uri="{FF2B5EF4-FFF2-40B4-BE49-F238E27FC236}">
                    <a16:creationId xmlns:a16="http://schemas.microsoft.com/office/drawing/2014/main" id="{B01B3D08-7BD5-067E-3A66-28B6199992B3}"/>
                  </a:ext>
                </a:extLst>
              </p:cNvPr>
              <p:cNvSpPr>
                <a:spLocks noGrp="1"/>
              </p:cNvSpPr>
              <p:nvPr>
                <p:ph idx="1"/>
              </p:nvPr>
            </p:nvSpPr>
            <p:spPr>
              <a:xfrm>
                <a:off x="1143001" y="2332026"/>
                <a:ext cx="4953000" cy="3567118"/>
              </a:xfrm>
            </p:spPr>
            <p:txBody>
              <a:bodyPr anchor="t">
                <a:normAutofit/>
              </a:bodyPr>
              <a:lstStyle/>
              <a:p>
                <a:pPr>
                  <a:lnSpc>
                    <a:spcPct val="110000"/>
                  </a:lnSpc>
                </a:pPr>
                <a:r>
                  <a:rPr lang="en-US" sz="1300"/>
                  <a:t>The system is modeled using a polynomial nonlinear ARX model. The current output is expressed as a nonlinear function of past outputs and inputs:</a:t>
                </a:r>
                <a:r>
                  <a:rPr lang="en-US" sz="1300" i="1">
                    <a:latin typeface="Cambria Math" panose="02040503050406030204" pitchFamily="18" charset="0"/>
                  </a:rPr>
                  <a:t>  </a:t>
                </a:r>
                <a14:m>
                  <m:oMath xmlns:m="http://schemas.openxmlformats.org/officeDocument/2006/math">
                    <m:acc>
                      <m:accPr>
                        <m:chr m:val="̂"/>
                        <m:ctrlPr>
                          <a:rPr lang="en-US" sz="1300" i="1" smtClean="0">
                            <a:latin typeface="Cambria Math" panose="02040503050406030204" pitchFamily="18" charset="0"/>
                          </a:rPr>
                        </m:ctrlPr>
                      </m:accPr>
                      <m:e>
                        <m:r>
                          <a:rPr lang="en-US" sz="1300" b="0" i="1" smtClean="0">
                            <a:latin typeface="Cambria Math" panose="02040503050406030204" pitchFamily="18" charset="0"/>
                          </a:rPr>
                          <m:t>𝑦</m:t>
                        </m:r>
                      </m:e>
                    </m:acc>
                  </m:oMath>
                </a14:m>
                <a:r>
                  <a:rPr lang="en-US" sz="1300"/>
                  <a:t>(k)=p(d(k)).</a:t>
                </a:r>
              </a:p>
              <a:p>
                <a:pPr>
                  <a:lnSpc>
                    <a:spcPct val="110000"/>
                  </a:lnSpc>
                </a:pPr>
                <a:r>
                  <a:rPr lang="en-US" sz="1300"/>
                  <a:t>The regressor vector is defined as: </a:t>
                </a:r>
                <a14:m>
                  <m:oMath xmlns:m="http://schemas.openxmlformats.org/officeDocument/2006/math">
                    <m:r>
                      <a:rPr lang="en-US" sz="1300" b="0" i="1" smtClean="0">
                        <a:latin typeface="Cambria Math" panose="02040503050406030204" pitchFamily="18" charset="0"/>
                      </a:rPr>
                      <m:t>𝑑</m:t>
                    </m:r>
                    <m:d>
                      <m:dPr>
                        <m:ctrlPr>
                          <a:rPr lang="en-US" sz="1300" b="0" i="1" smtClean="0">
                            <a:latin typeface="Cambria Math" panose="02040503050406030204" pitchFamily="18" charset="0"/>
                          </a:rPr>
                        </m:ctrlPr>
                      </m:dPr>
                      <m:e>
                        <m:r>
                          <a:rPr lang="en-US" sz="1300" b="0" i="1" smtClean="0">
                            <a:latin typeface="Cambria Math" panose="02040503050406030204" pitchFamily="18" charset="0"/>
                          </a:rPr>
                          <m:t>𝑘</m:t>
                        </m:r>
                      </m:e>
                    </m:d>
                    <m:sSup>
                      <m:sSupPr>
                        <m:ctrlPr>
                          <a:rPr lang="en-US" sz="1300" b="0" i="1" smtClean="0">
                            <a:latin typeface="Cambria Math" panose="02040503050406030204" pitchFamily="18" charset="0"/>
                          </a:rPr>
                        </m:ctrlPr>
                      </m:sSupPr>
                      <m:e>
                        <m:r>
                          <a:rPr lang="en-US" sz="1300" i="1">
                            <a:latin typeface="Cambria Math" panose="02040503050406030204" pitchFamily="18" charset="0"/>
                          </a:rPr>
                          <m:t>=[</m:t>
                        </m:r>
                        <m:r>
                          <a:rPr lang="en-US" sz="1300" i="1">
                            <a:latin typeface="Cambria Math" panose="02040503050406030204" pitchFamily="18" charset="0"/>
                          </a:rPr>
                          <m:t>𝑦</m:t>
                        </m:r>
                        <m:d>
                          <m:dPr>
                            <m:ctrlPr>
                              <a:rPr lang="en-US" sz="1300" i="1">
                                <a:latin typeface="Cambria Math" panose="02040503050406030204" pitchFamily="18" charset="0"/>
                              </a:rPr>
                            </m:ctrlPr>
                          </m:dPr>
                          <m:e>
                            <m:r>
                              <a:rPr lang="en-US" sz="1300" i="1">
                                <a:latin typeface="Cambria Math" panose="02040503050406030204" pitchFamily="18" charset="0"/>
                              </a:rPr>
                              <m:t>𝑘</m:t>
                            </m:r>
                            <m:r>
                              <a:rPr lang="en-US" sz="1300" i="1">
                                <a:latin typeface="Cambria Math" panose="02040503050406030204" pitchFamily="18" charset="0"/>
                              </a:rPr>
                              <m:t>−1</m:t>
                            </m:r>
                          </m:e>
                        </m:d>
                        <m:r>
                          <a:rPr lang="en-US" sz="1300" i="1">
                            <a:latin typeface="Cambria Math" panose="02040503050406030204" pitchFamily="18" charset="0"/>
                          </a:rPr>
                          <m:t>, …, </m:t>
                        </m:r>
                        <m:r>
                          <a:rPr lang="en-US" sz="1300" i="1">
                            <a:latin typeface="Cambria Math" panose="02040503050406030204" pitchFamily="18" charset="0"/>
                          </a:rPr>
                          <m:t>𝑦</m:t>
                        </m:r>
                        <m:d>
                          <m:dPr>
                            <m:ctrlPr>
                              <a:rPr lang="en-US" sz="1300" i="1">
                                <a:latin typeface="Cambria Math" panose="02040503050406030204" pitchFamily="18" charset="0"/>
                              </a:rPr>
                            </m:ctrlPr>
                          </m:dPr>
                          <m:e>
                            <m:r>
                              <a:rPr lang="en-US" sz="1300" i="1">
                                <a:latin typeface="Cambria Math" panose="02040503050406030204" pitchFamily="18" charset="0"/>
                              </a:rPr>
                              <m:t>𝑘</m:t>
                            </m:r>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𝑛</m:t>
                                </m:r>
                              </m:e>
                              <m:sub>
                                <m:r>
                                  <a:rPr lang="en-US" sz="1300" i="1">
                                    <a:latin typeface="Cambria Math" panose="02040503050406030204" pitchFamily="18" charset="0"/>
                                  </a:rPr>
                                  <m:t>𝑎</m:t>
                                </m:r>
                              </m:sub>
                            </m:sSub>
                          </m:e>
                        </m:d>
                        <m:r>
                          <a:rPr lang="en-US" sz="1300" i="1">
                            <a:latin typeface="Cambria Math" panose="02040503050406030204" pitchFamily="18" charset="0"/>
                          </a:rPr>
                          <m:t>,</m:t>
                        </m:r>
                        <m:r>
                          <a:rPr lang="en-US" sz="1300" i="1">
                            <a:latin typeface="Cambria Math" panose="02040503050406030204" pitchFamily="18" charset="0"/>
                          </a:rPr>
                          <m:t>𝑢</m:t>
                        </m:r>
                        <m:d>
                          <m:dPr>
                            <m:ctrlPr>
                              <a:rPr lang="en-US" sz="1300" i="1">
                                <a:latin typeface="Cambria Math" panose="02040503050406030204" pitchFamily="18" charset="0"/>
                              </a:rPr>
                            </m:ctrlPr>
                          </m:dPr>
                          <m:e>
                            <m:r>
                              <a:rPr lang="en-US" sz="1300" i="1">
                                <a:latin typeface="Cambria Math" panose="02040503050406030204" pitchFamily="18" charset="0"/>
                              </a:rPr>
                              <m:t>𝑘</m:t>
                            </m:r>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𝑛</m:t>
                                </m:r>
                              </m:e>
                              <m:sub>
                                <m:r>
                                  <a:rPr lang="en-US" sz="1300" i="1">
                                    <a:latin typeface="Cambria Math" panose="02040503050406030204" pitchFamily="18" charset="0"/>
                                  </a:rPr>
                                  <m:t>𝑘</m:t>
                                </m:r>
                              </m:sub>
                            </m:sSub>
                          </m:e>
                        </m:d>
                        <m:r>
                          <a:rPr lang="en-US" sz="1300" i="1">
                            <a:latin typeface="Cambria Math" panose="02040503050406030204" pitchFamily="18" charset="0"/>
                          </a:rPr>
                          <m:t>,…,</m:t>
                        </m:r>
                        <m:r>
                          <a:rPr lang="en-US" sz="1300" i="1">
                            <a:latin typeface="Cambria Math" panose="02040503050406030204" pitchFamily="18" charset="0"/>
                          </a:rPr>
                          <m:t>𝑢</m:t>
                        </m:r>
                        <m:r>
                          <a:rPr lang="en-US" sz="1300" i="1">
                            <a:latin typeface="Cambria Math" panose="02040503050406030204" pitchFamily="18" charset="0"/>
                          </a:rPr>
                          <m:t>(</m:t>
                        </m:r>
                        <m:r>
                          <a:rPr lang="en-US" sz="1300" i="1">
                            <a:latin typeface="Cambria Math" panose="02040503050406030204" pitchFamily="18" charset="0"/>
                          </a:rPr>
                          <m:t>𝑘</m:t>
                        </m:r>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𝑛</m:t>
                            </m:r>
                          </m:e>
                          <m:sub>
                            <m:r>
                              <a:rPr lang="en-US" sz="1300" i="1">
                                <a:latin typeface="Cambria Math" panose="02040503050406030204" pitchFamily="18" charset="0"/>
                              </a:rPr>
                              <m:t>𝑘</m:t>
                            </m:r>
                          </m:sub>
                        </m:sSub>
                        <m:r>
                          <a:rPr lang="en-US" sz="1300" i="1">
                            <a:latin typeface="Cambria Math" panose="02040503050406030204" pitchFamily="18" charset="0"/>
                          </a:rPr>
                          <m:t>−</m:t>
                        </m:r>
                        <m:sSub>
                          <m:sSubPr>
                            <m:ctrlPr>
                              <a:rPr lang="en-US" sz="1300" i="1">
                                <a:latin typeface="Cambria Math" panose="02040503050406030204" pitchFamily="18" charset="0"/>
                              </a:rPr>
                            </m:ctrlPr>
                          </m:sSubPr>
                          <m:e>
                            <m:r>
                              <a:rPr lang="en-US" sz="1300" i="1">
                                <a:latin typeface="Cambria Math" panose="02040503050406030204" pitchFamily="18" charset="0"/>
                              </a:rPr>
                              <m:t>𝑛</m:t>
                            </m:r>
                          </m:e>
                          <m:sub>
                            <m:r>
                              <a:rPr lang="en-US" sz="1300" i="1">
                                <a:latin typeface="Cambria Math" panose="02040503050406030204" pitchFamily="18" charset="0"/>
                              </a:rPr>
                              <m:t>𝑏</m:t>
                            </m:r>
                          </m:sub>
                        </m:sSub>
                        <m:r>
                          <a:rPr lang="en-US" sz="1300" i="1">
                            <a:latin typeface="Cambria Math" panose="02040503050406030204" pitchFamily="18" charset="0"/>
                          </a:rPr>
                          <m:t>+1)]</m:t>
                        </m:r>
                      </m:e>
                      <m:sup>
                        <m:r>
                          <a:rPr lang="en-US" sz="1300" b="0" i="1" smtClean="0">
                            <a:latin typeface="Cambria Math" panose="02040503050406030204" pitchFamily="18" charset="0"/>
                          </a:rPr>
                          <m:t>𝑇</m:t>
                        </m:r>
                      </m:sup>
                    </m:sSup>
                  </m:oMath>
                </a14:m>
                <a:endParaRPr lang="en-US" sz="1300"/>
              </a:p>
              <a:p>
                <a:pPr>
                  <a:lnSpc>
                    <a:spcPct val="110000"/>
                  </a:lnSpc>
                </a:pPr>
                <a:r>
                  <a:rPr lang="en-US" sz="1300"/>
                  <a:t>p(⋅) is a multivariate polynomial of degree m in the regressor variables.</a:t>
                </a:r>
              </a:p>
              <a:p>
                <a:pPr>
                  <a:lnSpc>
                    <a:spcPct val="110000"/>
                  </a:lnSpc>
                </a:pPr>
                <a:r>
                  <a:rPr lang="en-US" sz="1300"/>
                  <a:t>The model is nonlinear in the regressors and linear in the parameters.</a:t>
                </a:r>
              </a:p>
              <a:p>
                <a:pPr>
                  <a:lnSpc>
                    <a:spcPct val="110000"/>
                  </a:lnSpc>
                </a:pPr>
                <a:r>
                  <a:rPr lang="en-US" sz="1300"/>
                  <a:t>The linear ARX model is a special case obtained when m=1.</a:t>
                </a:r>
              </a:p>
            </p:txBody>
          </p:sp>
        </mc:Choice>
        <mc:Fallback>
          <p:sp>
            <p:nvSpPr>
              <p:cNvPr id="3" name="Substituent conținut 2">
                <a:extLst>
                  <a:ext uri="{FF2B5EF4-FFF2-40B4-BE49-F238E27FC236}">
                    <a16:creationId xmlns:a16="http://schemas.microsoft.com/office/drawing/2014/main" id="{B01B3D08-7BD5-067E-3A66-28B6199992B3}"/>
                  </a:ext>
                </a:extLst>
              </p:cNvPr>
              <p:cNvSpPr>
                <a:spLocks noGrp="1" noRot="1" noChangeAspect="1" noMove="1" noResize="1" noEditPoints="1" noAdjustHandles="1" noChangeArrowheads="1" noChangeShapeType="1" noTextEdit="1"/>
              </p:cNvSpPr>
              <p:nvPr>
                <p:ph idx="1"/>
              </p:nvPr>
            </p:nvSpPr>
            <p:spPr>
              <a:xfrm>
                <a:off x="1143001" y="2332026"/>
                <a:ext cx="4953000" cy="3567118"/>
              </a:xfrm>
              <a:blipFill>
                <a:blip r:embed="rId2"/>
                <a:stretch>
                  <a:fillRect l="-123" r="-2956"/>
                </a:stretch>
              </a:blipFill>
            </p:spPr>
            <p:txBody>
              <a:bodyPr/>
              <a:lstStyle/>
              <a:p>
                <a:r>
                  <a:rPr lang="en-US">
                    <a:noFill/>
                  </a:rPr>
                  <a:t> </a:t>
                </a:r>
              </a:p>
            </p:txBody>
          </p:sp>
        </mc:Fallback>
      </mc:AlternateContent>
      <p:pic>
        <p:nvPicPr>
          <p:cNvPr id="19" name="Graphic 6" descr="Org">
            <a:extLst>
              <a:ext uri="{FF2B5EF4-FFF2-40B4-BE49-F238E27FC236}">
                <a16:creationId xmlns:a16="http://schemas.microsoft.com/office/drawing/2014/main" id="{0EBBEE6C-8C9E-D750-E339-7D88F9FB9F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7310" y="1931097"/>
            <a:ext cx="3327437" cy="3327437"/>
          </a:xfrm>
          <a:prstGeom prst="rect">
            <a:avLst/>
          </a:prstGeom>
        </p:spPr>
      </p:pic>
      <p:cxnSp>
        <p:nvCxnSpPr>
          <p:cNvPr id="28" name="Straight Connector 27">
            <a:extLst>
              <a:ext uri="{FF2B5EF4-FFF2-40B4-BE49-F238E27FC236}">
                <a16:creationId xmlns:a16="http://schemas.microsoft.com/office/drawing/2014/main" id="{7FA07B03-7E5B-4F33-A494-D72BC5BEB0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4665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28C10E46-FEC0-0DF2-340C-40997A33B88F}"/>
              </a:ext>
            </a:extLst>
          </p:cNvPr>
          <p:cNvSpPr>
            <a:spLocks noGrp="1"/>
          </p:cNvSpPr>
          <p:nvPr>
            <p:ph type="title"/>
          </p:nvPr>
        </p:nvSpPr>
        <p:spPr/>
        <p:txBody>
          <a:bodyPr/>
          <a:lstStyle/>
          <a:p>
            <a:r>
              <a:rPr lang="en-US" dirty="0"/>
              <a:t>Our Solution</a:t>
            </a:r>
          </a:p>
        </p:txBody>
      </p:sp>
      <p:sp>
        <p:nvSpPr>
          <p:cNvPr id="3" name="Substituent conținut 2">
            <a:extLst>
              <a:ext uri="{FF2B5EF4-FFF2-40B4-BE49-F238E27FC236}">
                <a16:creationId xmlns:a16="http://schemas.microsoft.com/office/drawing/2014/main" id="{D5580996-F51D-CE37-0A24-A47B6C3BDB1D}"/>
              </a:ext>
            </a:extLst>
          </p:cNvPr>
          <p:cNvSpPr>
            <a:spLocks noGrp="1"/>
          </p:cNvSpPr>
          <p:nvPr>
            <p:ph idx="1"/>
          </p:nvPr>
        </p:nvSpPr>
        <p:spPr>
          <a:xfrm>
            <a:off x="7543800" y="2532438"/>
            <a:ext cx="4124325" cy="2673306"/>
          </a:xfrm>
        </p:spPr>
        <p:txBody>
          <a:bodyPr>
            <a:normAutofit fontScale="92500"/>
          </a:bodyPr>
          <a:lstStyle/>
          <a:p>
            <a:r>
              <a:rPr lang="en-US" dirty="0"/>
              <a:t>We started by using the formula for regressor construction from the first part of project and after some computations we concluded that we needed small modifications in order to achieve the right results for the new regressors.</a:t>
            </a:r>
          </a:p>
        </p:txBody>
      </p:sp>
      <mc:AlternateContent xmlns:mc="http://schemas.openxmlformats.org/markup-compatibility/2006">
        <mc:Choice xmlns:a14="http://schemas.microsoft.com/office/drawing/2010/main" Requires="a14">
          <p:sp>
            <p:nvSpPr>
              <p:cNvPr id="4" name="CasetăText 3">
                <a:extLst>
                  <a:ext uri="{FF2B5EF4-FFF2-40B4-BE49-F238E27FC236}">
                    <a16:creationId xmlns:a16="http://schemas.microsoft.com/office/drawing/2014/main" id="{0CDB22A3-079F-7A24-E662-054999C35820}"/>
                  </a:ext>
                </a:extLst>
              </p:cNvPr>
              <p:cNvSpPr txBox="1"/>
              <p:nvPr/>
            </p:nvSpPr>
            <p:spPr>
              <a:xfrm>
                <a:off x="1143000" y="2532438"/>
                <a:ext cx="2392193" cy="77534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𝑛</m:t>
                          </m:r>
                          <m:r>
                            <a:rPr lang="en-US" b="0" i="1" smtClean="0">
                              <a:latin typeface="Cambria Math" panose="02040503050406030204" pitchFamily="18" charset="0"/>
                            </a:rPr>
                            <m:t>=1</m:t>
                          </m:r>
                        </m:sub>
                        <m:sup>
                          <m:r>
                            <a:rPr lang="en-US" b="0" i="1" smtClean="0">
                              <a:latin typeface="Cambria Math" panose="02040503050406030204" pitchFamily="18" charset="0"/>
                            </a:rPr>
                            <m:t>𝑡</m:t>
                          </m:r>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𝑘</m:t>
                                  </m:r>
                                  <m:r>
                                    <a:rPr lang="en-US" b="0" i="1" smtClean="0">
                                      <a:latin typeface="Cambria Math" panose="02040503050406030204" pitchFamily="18" charset="0"/>
                                    </a:rPr>
                                    <m:t>−1</m:t>
                                  </m:r>
                                </m:sup>
                              </m:sSubSup>
                            </m:e>
                          </m:nary>
                        </m:e>
                      </m:nary>
                    </m:oMath>
                  </m:oMathPara>
                </a14:m>
                <a:endParaRPr lang="en-US" dirty="0"/>
              </a:p>
            </p:txBody>
          </p:sp>
        </mc:Choice>
        <mc:Fallback>
          <p:sp>
            <p:nvSpPr>
              <p:cNvPr id="4" name="CasetăText 3">
                <a:extLst>
                  <a:ext uri="{FF2B5EF4-FFF2-40B4-BE49-F238E27FC236}">
                    <a16:creationId xmlns:a16="http://schemas.microsoft.com/office/drawing/2014/main" id="{0CDB22A3-079F-7A24-E662-054999C35820}"/>
                  </a:ext>
                </a:extLst>
              </p:cNvPr>
              <p:cNvSpPr txBox="1">
                <a:spLocks noRot="1" noChangeAspect="1" noMove="1" noResize="1" noEditPoints="1" noAdjustHandles="1" noChangeArrowheads="1" noChangeShapeType="1" noTextEdit="1"/>
              </p:cNvSpPr>
              <p:nvPr/>
            </p:nvSpPr>
            <p:spPr>
              <a:xfrm>
                <a:off x="1143000" y="2532438"/>
                <a:ext cx="2392193" cy="77534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CasetăText 4">
                <a:extLst>
                  <a:ext uri="{FF2B5EF4-FFF2-40B4-BE49-F238E27FC236}">
                    <a16:creationId xmlns:a16="http://schemas.microsoft.com/office/drawing/2014/main" id="{A6C5E1A4-F7AA-7D4F-2335-088C76AF549B}"/>
                  </a:ext>
                </a:extLst>
              </p:cNvPr>
              <p:cNvSpPr txBox="1"/>
              <p:nvPr/>
            </p:nvSpPr>
            <p:spPr>
              <a:xfrm>
                <a:off x="4339456" y="2529616"/>
                <a:ext cx="2486643" cy="77816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𝑛</m:t>
                          </m:r>
                          <m:r>
                            <a:rPr lang="en-US" b="0" i="1" smtClean="0">
                              <a:latin typeface="Cambria Math" panose="02040503050406030204" pitchFamily="18" charset="0"/>
                            </a:rPr>
                            <m:t>=1</m:t>
                          </m:r>
                        </m:sub>
                        <m:sup>
                          <m:r>
                            <a:rPr lang="en-US" b="0" i="1" smtClean="0">
                              <a:latin typeface="Cambria Math" panose="02040503050406030204" pitchFamily="18" charset="0"/>
                            </a:rPr>
                            <m:t>𝑡</m:t>
                          </m:r>
                          <m:r>
                            <a:rPr lang="en-US" b="0" i="1" smtClean="0">
                              <a:latin typeface="Cambria Math" panose="02040503050406030204" pitchFamily="18" charset="0"/>
                            </a:rPr>
                            <m:t>+1</m:t>
                          </m:r>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𝑘</m:t>
                                  </m:r>
                                  <m:r>
                                    <a:rPr lang="en-US" b="0" i="1" smtClean="0">
                                      <a:latin typeface="Cambria Math" panose="02040503050406030204" pitchFamily="18" charset="0"/>
                                    </a:rPr>
                                    <m:t>−1</m:t>
                                  </m:r>
                                </m:sup>
                              </m:sSup>
                            </m:e>
                          </m:nary>
                        </m:e>
                      </m:nary>
                    </m:oMath>
                  </m:oMathPara>
                </a14:m>
                <a:endParaRPr lang="en-US" dirty="0"/>
              </a:p>
            </p:txBody>
          </p:sp>
        </mc:Choice>
        <mc:Fallback>
          <p:sp>
            <p:nvSpPr>
              <p:cNvPr id="5" name="CasetăText 4">
                <a:extLst>
                  <a:ext uri="{FF2B5EF4-FFF2-40B4-BE49-F238E27FC236}">
                    <a16:creationId xmlns:a16="http://schemas.microsoft.com/office/drawing/2014/main" id="{A6C5E1A4-F7AA-7D4F-2335-088C76AF549B}"/>
                  </a:ext>
                </a:extLst>
              </p:cNvPr>
              <p:cNvSpPr txBox="1">
                <a:spLocks noRot="1" noChangeAspect="1" noMove="1" noResize="1" noEditPoints="1" noAdjustHandles="1" noChangeArrowheads="1" noChangeShapeType="1" noTextEdit="1"/>
              </p:cNvSpPr>
              <p:nvPr/>
            </p:nvSpPr>
            <p:spPr>
              <a:xfrm>
                <a:off x="4339456" y="2529616"/>
                <a:ext cx="2486643" cy="778162"/>
              </a:xfrm>
              <a:prstGeom prst="rect">
                <a:avLst/>
              </a:prstGeom>
              <a:blipFill>
                <a:blip r:embed="rId3"/>
                <a:stretch>
                  <a:fillRect/>
                </a:stretch>
              </a:blipFill>
            </p:spPr>
            <p:txBody>
              <a:bodyPr/>
              <a:lstStyle/>
              <a:p>
                <a:r>
                  <a:rPr lang="en-US">
                    <a:noFill/>
                  </a:rPr>
                  <a:t> </a:t>
                </a:r>
              </a:p>
            </p:txBody>
          </p:sp>
        </mc:Fallback>
      </mc:AlternateContent>
      <p:sp>
        <p:nvSpPr>
          <p:cNvPr id="6" name="CasetăText 5">
            <a:extLst>
              <a:ext uri="{FF2B5EF4-FFF2-40B4-BE49-F238E27FC236}">
                <a16:creationId xmlns:a16="http://schemas.microsoft.com/office/drawing/2014/main" id="{609BC65E-602B-250D-9E84-A57F1C122AA4}"/>
              </a:ext>
            </a:extLst>
          </p:cNvPr>
          <p:cNvSpPr txBox="1"/>
          <p:nvPr/>
        </p:nvSpPr>
        <p:spPr>
          <a:xfrm>
            <a:off x="825611" y="3451418"/>
            <a:ext cx="3026969" cy="1754326"/>
          </a:xfrm>
          <a:prstGeom prst="rect">
            <a:avLst/>
          </a:prstGeom>
          <a:noFill/>
        </p:spPr>
        <p:txBody>
          <a:bodyPr wrap="square" rtlCol="0">
            <a:spAutoFit/>
          </a:bodyPr>
          <a:lstStyle/>
          <a:p>
            <a:r>
              <a:rPr lang="en-US" dirty="0"/>
              <a:t>Our initial formula, from part 1 of the project where:</a:t>
            </a:r>
          </a:p>
          <a:p>
            <a:r>
              <a:rPr lang="en-US" dirty="0"/>
              <a:t>t – the degree of the final polynomial</a:t>
            </a:r>
          </a:p>
          <a:p>
            <a:r>
              <a:rPr lang="en-US" dirty="0"/>
              <a:t>n – the degree of the current regressor</a:t>
            </a:r>
          </a:p>
        </p:txBody>
      </p:sp>
      <p:sp>
        <p:nvSpPr>
          <p:cNvPr id="7" name="CasetăText 6">
            <a:extLst>
              <a:ext uri="{FF2B5EF4-FFF2-40B4-BE49-F238E27FC236}">
                <a16:creationId xmlns:a16="http://schemas.microsoft.com/office/drawing/2014/main" id="{F29134ED-46AB-5D9F-0800-A51566A8004D}"/>
              </a:ext>
            </a:extLst>
          </p:cNvPr>
          <p:cNvSpPr txBox="1"/>
          <p:nvPr/>
        </p:nvSpPr>
        <p:spPr>
          <a:xfrm>
            <a:off x="4068308" y="3429000"/>
            <a:ext cx="2942376" cy="1754326"/>
          </a:xfrm>
          <a:prstGeom prst="rect">
            <a:avLst/>
          </a:prstGeom>
          <a:noFill/>
        </p:spPr>
        <p:txBody>
          <a:bodyPr wrap="square" rtlCol="0">
            <a:spAutoFit/>
          </a:bodyPr>
          <a:lstStyle/>
          <a:p>
            <a:r>
              <a:rPr lang="en-US" dirty="0"/>
              <a:t>Our final formula where:</a:t>
            </a:r>
          </a:p>
          <a:p>
            <a:r>
              <a:rPr lang="en-US" dirty="0"/>
              <a:t>t – the degree of the final polynomial</a:t>
            </a:r>
          </a:p>
          <a:p>
            <a:r>
              <a:rPr lang="en-US" dirty="0"/>
              <a:t>n – the degree of the current regressor</a:t>
            </a:r>
          </a:p>
          <a:p>
            <a:endParaRPr lang="en-US" dirty="0"/>
          </a:p>
        </p:txBody>
      </p:sp>
    </p:spTree>
    <p:extLst>
      <p:ext uri="{BB962C8B-B14F-4D97-AF65-F5344CB8AC3E}">
        <p14:creationId xmlns:p14="http://schemas.microsoft.com/office/powerpoint/2010/main" val="2312146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F20867-41B0-484D-9DA7-0FC742D31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37FD100-AD6C-4FB9-B662-CC1C2F000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6497" y="1526602"/>
            <a:ext cx="4667254" cy="5330310"/>
          </a:xfrm>
          <a:custGeom>
            <a:avLst/>
            <a:gdLst>
              <a:gd name="connsiteX0" fmla="*/ 4667254 w 4667254"/>
              <a:gd name="connsiteY0" fmla="*/ 0 h 5325271"/>
              <a:gd name="connsiteX1" fmla="*/ 4667254 w 4667254"/>
              <a:gd name="connsiteY1" fmla="*/ 2543639 h 5325271"/>
              <a:gd name="connsiteX2" fmla="*/ 2229334 w 4667254"/>
              <a:gd name="connsiteY2" fmla="*/ 5325271 h 5325271"/>
              <a:gd name="connsiteX3" fmla="*/ 0 w 4667254"/>
              <a:gd name="connsiteY3" fmla="*/ 5325271 h 5325271"/>
            </a:gdLst>
            <a:ahLst/>
            <a:cxnLst>
              <a:cxn ang="0">
                <a:pos x="connsiteX0" y="connsiteY0"/>
              </a:cxn>
              <a:cxn ang="0">
                <a:pos x="connsiteX1" y="connsiteY1"/>
              </a:cxn>
              <a:cxn ang="0">
                <a:pos x="connsiteX2" y="connsiteY2"/>
              </a:cxn>
              <a:cxn ang="0">
                <a:pos x="connsiteX3" y="connsiteY3"/>
              </a:cxn>
            </a:cxnLst>
            <a:rect l="l" t="t" r="r" b="b"/>
            <a:pathLst>
              <a:path w="4667254" h="5325271">
                <a:moveTo>
                  <a:pt x="4667254" y="0"/>
                </a:moveTo>
                <a:lnTo>
                  <a:pt x="4667254" y="2543639"/>
                </a:lnTo>
                <a:lnTo>
                  <a:pt x="2229334" y="5325271"/>
                </a:lnTo>
                <a:lnTo>
                  <a:pt x="0" y="5325271"/>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AF2F28F0-2553-55DA-CB95-AB1B1B164390}"/>
              </a:ext>
            </a:extLst>
          </p:cNvPr>
          <p:cNvSpPr>
            <a:spLocks noGrp="1"/>
          </p:cNvSpPr>
          <p:nvPr>
            <p:ph type="title"/>
          </p:nvPr>
        </p:nvSpPr>
        <p:spPr>
          <a:xfrm>
            <a:off x="1143000" y="872937"/>
            <a:ext cx="8862060" cy="1360898"/>
          </a:xfrm>
        </p:spPr>
        <p:txBody>
          <a:bodyPr>
            <a:normAutofit/>
          </a:bodyPr>
          <a:lstStyle/>
          <a:p>
            <a:r>
              <a:rPr lang="en-US"/>
              <a:t>Important Aspects</a:t>
            </a:r>
            <a:endParaRPr lang="en-US" dirty="0"/>
          </a:p>
        </p:txBody>
      </p:sp>
      <mc:AlternateContent xmlns:mc="http://schemas.openxmlformats.org/markup-compatibility/2006">
        <mc:Choice xmlns:a14="http://schemas.microsoft.com/office/drawing/2010/main" Requires="a14">
          <p:sp>
            <p:nvSpPr>
              <p:cNvPr id="3" name="Substituent conținut 2">
                <a:extLst>
                  <a:ext uri="{FF2B5EF4-FFF2-40B4-BE49-F238E27FC236}">
                    <a16:creationId xmlns:a16="http://schemas.microsoft.com/office/drawing/2014/main" id="{EC8579C3-B056-2637-FAB8-443EBE82190B}"/>
                  </a:ext>
                </a:extLst>
              </p:cNvPr>
              <p:cNvSpPr>
                <a:spLocks noGrp="1"/>
              </p:cNvSpPr>
              <p:nvPr>
                <p:ph idx="1"/>
              </p:nvPr>
            </p:nvSpPr>
            <p:spPr>
              <a:xfrm>
                <a:off x="1142999" y="2332029"/>
                <a:ext cx="6972301" cy="3524486"/>
              </a:xfrm>
            </p:spPr>
            <p:txBody>
              <a:bodyPr>
                <a:normAutofit/>
              </a:bodyPr>
              <a:lstStyle/>
              <a:p>
                <a:r>
                  <a:rPr lang="en-US" dirty="0"/>
                  <a:t>Linear Regression formulation: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oMath>
                </a14:m>
                <a:r>
                  <a:rPr lang="en-US" dirty="0"/>
                  <a:t>(k)=</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𝑇</m:t>
                        </m:r>
                      </m:sup>
                    </m:sSup>
                  </m:oMath>
                </a14:m>
                <a:r>
                  <a:rPr lang="en-US" dirty="0"/>
                  <a:t>(k)*</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where </a:t>
                </a:r>
                <a14:m>
                  <m:oMath xmlns:m="http://schemas.openxmlformats.org/officeDocument/2006/math">
                    <m:r>
                      <a:rPr lang="en-US" i="1">
                        <a:latin typeface="Cambria Math" panose="02040503050406030204" pitchFamily="18" charset="0"/>
                        <a:ea typeface="Cambria Math" panose="02040503050406030204" pitchFamily="18" charset="0"/>
                      </a:rPr>
                      <m:t>𝜃</m:t>
                    </m:r>
                  </m:oMath>
                </a14:m>
                <a:r>
                  <a:rPr lang="en-US" dirty="0"/>
                  <a:t> contains the unknown polynomial coefficients.</a:t>
                </a:r>
              </a:p>
              <a:p>
                <a:r>
                  <a:rPr lang="en-US"/>
                  <a:t>Model operation modes:</a:t>
                </a:r>
              </a:p>
              <a:p>
                <a:pPr>
                  <a:buFontTx/>
                  <a:buChar char="-"/>
                </a:pPr>
                <a:r>
                  <a:rPr lang="en-US"/>
                  <a:t>One-step ahead prediction (uses measured past outputs)</a:t>
                </a:r>
              </a:p>
              <a:p>
                <a:pPr>
                  <a:buFontTx/>
                  <a:buChar char="-"/>
                </a:pPr>
                <a:r>
                  <a:rPr lang="en-US"/>
                  <a:t>Simulation (uses previously simulated outputs)</a:t>
                </a:r>
                <a:endParaRPr lang="en-US" dirty="0"/>
              </a:p>
            </p:txBody>
          </p:sp>
        </mc:Choice>
        <mc:Fallback>
          <p:sp>
            <p:nvSpPr>
              <p:cNvPr id="3" name="Substituent conținut 2">
                <a:extLst>
                  <a:ext uri="{FF2B5EF4-FFF2-40B4-BE49-F238E27FC236}">
                    <a16:creationId xmlns:a16="http://schemas.microsoft.com/office/drawing/2014/main" id="{EC8579C3-B056-2637-FAB8-443EBE82190B}"/>
                  </a:ext>
                </a:extLst>
              </p:cNvPr>
              <p:cNvSpPr>
                <a:spLocks noGrp="1" noRot="1" noChangeAspect="1" noMove="1" noResize="1" noEditPoints="1" noAdjustHandles="1" noChangeArrowheads="1" noChangeShapeType="1" noTextEdit="1"/>
              </p:cNvSpPr>
              <p:nvPr>
                <p:ph idx="1"/>
              </p:nvPr>
            </p:nvSpPr>
            <p:spPr>
              <a:xfrm>
                <a:off x="1142999" y="2332029"/>
                <a:ext cx="6972301" cy="3524486"/>
              </a:xfrm>
              <a:blipFill>
                <a:blip r:embed="rId2"/>
                <a:stretch>
                  <a:fillRect l="-1136"/>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D0249902-6C42-4139-A46F-ADF022B8C1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325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CC90F7C5-8E13-F4B3-BFC0-3ADBDEAB6354}"/>
              </a:ext>
            </a:extLst>
          </p:cNvPr>
          <p:cNvSpPr>
            <a:spLocks noGrp="1"/>
          </p:cNvSpPr>
          <p:nvPr>
            <p:ph type="title"/>
          </p:nvPr>
        </p:nvSpPr>
        <p:spPr/>
        <p:txBody>
          <a:bodyPr/>
          <a:lstStyle/>
          <a:p>
            <a:r>
              <a:rPr lang="en-US" dirty="0"/>
              <a:t>Mean Squared Error</a:t>
            </a:r>
          </a:p>
        </p:txBody>
      </p:sp>
      <p:pic>
        <p:nvPicPr>
          <p:cNvPr id="5" name="Substituent conținut 4" descr="O imagine care conține captură de ecran, text&#10;&#10;Conținutul generat de inteligența artificială poate fi incorect.">
            <a:extLst>
              <a:ext uri="{FF2B5EF4-FFF2-40B4-BE49-F238E27FC236}">
                <a16:creationId xmlns:a16="http://schemas.microsoft.com/office/drawing/2014/main" id="{680BA3AC-8E39-885C-3642-C7412710EB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958" y="1970088"/>
            <a:ext cx="4756292" cy="3078006"/>
          </a:xfrm>
        </p:spPr>
      </p:pic>
      <p:sp>
        <p:nvSpPr>
          <p:cNvPr id="6" name="CasetăText 5">
            <a:extLst>
              <a:ext uri="{FF2B5EF4-FFF2-40B4-BE49-F238E27FC236}">
                <a16:creationId xmlns:a16="http://schemas.microsoft.com/office/drawing/2014/main" id="{4904D070-91E9-6A78-ECA1-76A2EF63E672}"/>
              </a:ext>
            </a:extLst>
          </p:cNvPr>
          <p:cNvSpPr txBox="1"/>
          <p:nvPr/>
        </p:nvSpPr>
        <p:spPr>
          <a:xfrm>
            <a:off x="1807832" y="5061735"/>
            <a:ext cx="3248544" cy="923330"/>
          </a:xfrm>
          <a:prstGeom prst="rect">
            <a:avLst/>
          </a:prstGeom>
          <a:noFill/>
        </p:spPr>
        <p:txBody>
          <a:bodyPr wrap="square" rtlCol="0">
            <a:spAutoFit/>
          </a:bodyPr>
          <a:lstStyle/>
          <a:p>
            <a:r>
              <a:rPr lang="en-US" dirty="0"/>
              <a:t>Our plot of the MSEs: the MSE of “</a:t>
            </a:r>
            <a:r>
              <a:rPr lang="en-US" dirty="0">
                <a:solidFill>
                  <a:schemeClr val="accent1"/>
                </a:solidFill>
              </a:rPr>
              <a:t>id</a:t>
            </a:r>
            <a:r>
              <a:rPr lang="en-US" dirty="0"/>
              <a:t>” and the MSE of “</a:t>
            </a:r>
            <a:r>
              <a:rPr lang="en-US" dirty="0">
                <a:solidFill>
                  <a:srgbClr val="EE930C"/>
                </a:solidFill>
              </a:rPr>
              <a:t>val</a:t>
            </a:r>
            <a:r>
              <a:rPr lang="en-US" dirty="0"/>
              <a:t>”</a:t>
            </a:r>
          </a:p>
          <a:p>
            <a:endParaRPr lang="en-US" dirty="0"/>
          </a:p>
        </p:txBody>
      </p:sp>
      <mc:AlternateContent xmlns:mc="http://schemas.openxmlformats.org/markup-compatibility/2006">
        <mc:Choice xmlns:a14="http://schemas.microsoft.com/office/drawing/2010/main" Requires="a14">
          <p:sp>
            <p:nvSpPr>
              <p:cNvPr id="7" name="CasetăText 6">
                <a:extLst>
                  <a:ext uri="{FF2B5EF4-FFF2-40B4-BE49-F238E27FC236}">
                    <a16:creationId xmlns:a16="http://schemas.microsoft.com/office/drawing/2014/main" id="{C14AA800-FA63-C8FB-55CC-327102535F74}"/>
                  </a:ext>
                </a:extLst>
              </p:cNvPr>
              <p:cNvSpPr txBox="1"/>
              <p:nvPr/>
            </p:nvSpPr>
            <p:spPr>
              <a:xfrm>
                <a:off x="7368841" y="1970088"/>
                <a:ext cx="2237472" cy="67076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𝑀𝑆𝐸</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subHide m:val="on"/>
                          <m:supHide m:val="on"/>
                          <m:ctrlPr>
                            <a:rPr lang="en-US" b="0" i="1" smtClean="0">
                              <a:latin typeface="Cambria Math" panose="02040503050406030204" pitchFamily="18" charset="0"/>
                            </a:rPr>
                          </m:ctrlPr>
                        </m:naryP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e>
                                <m:sub>
                                  <m:r>
                                    <a:rPr lang="en-US" b="0" i="1" smtClean="0">
                                      <a:latin typeface="Cambria Math" panose="02040503050406030204" pitchFamily="18" charset="0"/>
                                    </a:rPr>
                                    <m:t>𝑖</m:t>
                                  </m:r>
                                </m:sub>
                              </m:sSub>
                              <m:r>
                                <a:rPr lang="en-US" b="0" i="1" smtClean="0">
                                  <a:latin typeface="Cambria Math" panose="02040503050406030204" pitchFamily="18" charset="0"/>
                                </a:rPr>
                                <m:t>)</m:t>
                              </m:r>
                            </m:e>
                            <m:sup>
                              <m:r>
                                <a:rPr lang="en-US" b="0" i="1" smtClean="0">
                                  <a:latin typeface="Cambria Math" panose="02040503050406030204" pitchFamily="18" charset="0"/>
                                </a:rPr>
                                <m:t>2</m:t>
                              </m:r>
                            </m:sup>
                          </m:sSup>
                        </m:e>
                      </m:nary>
                    </m:oMath>
                  </m:oMathPara>
                </a14:m>
                <a:endParaRPr lang="en-US" dirty="0"/>
              </a:p>
            </p:txBody>
          </p:sp>
        </mc:Choice>
        <mc:Fallback>
          <p:sp>
            <p:nvSpPr>
              <p:cNvPr id="7" name="CasetăText 6">
                <a:extLst>
                  <a:ext uri="{FF2B5EF4-FFF2-40B4-BE49-F238E27FC236}">
                    <a16:creationId xmlns:a16="http://schemas.microsoft.com/office/drawing/2014/main" id="{C14AA800-FA63-C8FB-55CC-327102535F74}"/>
                  </a:ext>
                </a:extLst>
              </p:cNvPr>
              <p:cNvSpPr txBox="1">
                <a:spLocks noRot="1" noChangeAspect="1" noMove="1" noResize="1" noEditPoints="1" noAdjustHandles="1" noChangeArrowheads="1" noChangeShapeType="1" noTextEdit="1"/>
              </p:cNvSpPr>
              <p:nvPr/>
            </p:nvSpPr>
            <p:spPr>
              <a:xfrm>
                <a:off x="7368841" y="1970088"/>
                <a:ext cx="2237472" cy="670761"/>
              </a:xfrm>
              <a:prstGeom prst="rect">
                <a:avLst/>
              </a:prstGeom>
              <a:blipFill>
                <a:blip r:embed="rId3"/>
                <a:stretch>
                  <a:fillRect/>
                </a:stretch>
              </a:blipFill>
            </p:spPr>
            <p:txBody>
              <a:bodyPr/>
              <a:lstStyle/>
              <a:p>
                <a:r>
                  <a:rPr lang="en-US">
                    <a:noFill/>
                  </a:rPr>
                  <a:t> </a:t>
                </a:r>
              </a:p>
            </p:txBody>
          </p:sp>
        </mc:Fallback>
      </mc:AlternateContent>
      <p:sp>
        <p:nvSpPr>
          <p:cNvPr id="8" name="CasetăText 7">
            <a:extLst>
              <a:ext uri="{FF2B5EF4-FFF2-40B4-BE49-F238E27FC236}">
                <a16:creationId xmlns:a16="http://schemas.microsoft.com/office/drawing/2014/main" id="{D7AD17C0-C27E-EAD3-74BA-61D6E3D7419D}"/>
              </a:ext>
            </a:extLst>
          </p:cNvPr>
          <p:cNvSpPr txBox="1"/>
          <p:nvPr/>
        </p:nvSpPr>
        <p:spPr>
          <a:xfrm>
            <a:off x="6381752" y="3041964"/>
            <a:ext cx="4211650" cy="1754326"/>
          </a:xfrm>
          <a:prstGeom prst="rect">
            <a:avLst/>
          </a:prstGeom>
          <a:noFill/>
        </p:spPr>
        <p:txBody>
          <a:bodyPr wrap="square" rtlCol="0">
            <a:spAutoFit/>
          </a:bodyPr>
          <a:lstStyle/>
          <a:p>
            <a:pPr algn="ctr"/>
            <a:r>
              <a:rPr lang="en-US" dirty="0"/>
              <a:t>The Mathematical formula for MSE</a:t>
            </a:r>
          </a:p>
          <a:p>
            <a:pPr algn="ctr"/>
            <a:endParaRPr lang="en-US" dirty="0"/>
          </a:p>
          <a:p>
            <a:pPr algn="ctr"/>
            <a:r>
              <a:rPr lang="en-US" dirty="0"/>
              <a:t>The MSE represents the measure of how close a model’s predictions are to the actual values.</a:t>
            </a:r>
          </a:p>
          <a:p>
            <a:endParaRPr lang="en-US" dirty="0"/>
          </a:p>
        </p:txBody>
      </p:sp>
    </p:spTree>
    <p:extLst>
      <p:ext uri="{BB962C8B-B14F-4D97-AF65-F5344CB8AC3E}">
        <p14:creationId xmlns:p14="http://schemas.microsoft.com/office/powerpoint/2010/main" val="3495239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1CDB5A4B-1ABB-CCD8-F5AA-D7019D9E4986}"/>
              </a:ext>
            </a:extLst>
          </p:cNvPr>
          <p:cNvSpPr>
            <a:spLocks noGrp="1"/>
          </p:cNvSpPr>
          <p:nvPr>
            <p:ph type="title"/>
          </p:nvPr>
        </p:nvSpPr>
        <p:spPr/>
        <p:txBody>
          <a:bodyPr/>
          <a:lstStyle/>
          <a:p>
            <a:r>
              <a:rPr lang="en-US"/>
              <a:t>The ID and VAL plots </a:t>
            </a:r>
            <a:endParaRPr lang="en-US" dirty="0"/>
          </a:p>
        </p:txBody>
      </p:sp>
      <p:pic>
        <p:nvPicPr>
          <p:cNvPr id="5" name="Substituent conținut 4" descr="O imagine care conține captură de ecran, text&#10;&#10;Conținutul generat de inteligența artificială poate fi incorect.">
            <a:extLst>
              <a:ext uri="{FF2B5EF4-FFF2-40B4-BE49-F238E27FC236}">
                <a16:creationId xmlns:a16="http://schemas.microsoft.com/office/drawing/2014/main" id="{95FBD048-9BFE-C54D-60B4-2449E4075D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868" y="2184457"/>
            <a:ext cx="5340985" cy="3567112"/>
          </a:xfrm>
        </p:spPr>
      </p:pic>
      <p:pic>
        <p:nvPicPr>
          <p:cNvPr id="7" name="Imagine 6" descr="O imagine care conține captură de ecran&#10;&#10;Conținutul generat de inteligența artificială poate fi incorect.">
            <a:extLst>
              <a:ext uri="{FF2B5EF4-FFF2-40B4-BE49-F238E27FC236}">
                <a16:creationId xmlns:a16="http://schemas.microsoft.com/office/drawing/2014/main" id="{342A3D8F-DF20-3E71-8148-D3979B8A1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149" y="2227898"/>
            <a:ext cx="5340982" cy="3523671"/>
          </a:xfrm>
          <a:prstGeom prst="rect">
            <a:avLst/>
          </a:prstGeom>
        </p:spPr>
      </p:pic>
      <p:sp>
        <p:nvSpPr>
          <p:cNvPr id="8" name="CasetăText 7">
            <a:extLst>
              <a:ext uri="{FF2B5EF4-FFF2-40B4-BE49-F238E27FC236}">
                <a16:creationId xmlns:a16="http://schemas.microsoft.com/office/drawing/2014/main" id="{5A0BFE30-3AC3-076A-0121-E0ED22FF5E45}"/>
              </a:ext>
            </a:extLst>
          </p:cNvPr>
          <p:cNvSpPr txBox="1"/>
          <p:nvPr/>
        </p:nvSpPr>
        <p:spPr>
          <a:xfrm>
            <a:off x="2295525" y="2043232"/>
            <a:ext cx="666750" cy="369332"/>
          </a:xfrm>
          <a:prstGeom prst="rect">
            <a:avLst/>
          </a:prstGeom>
          <a:noFill/>
        </p:spPr>
        <p:txBody>
          <a:bodyPr wrap="square" rtlCol="0">
            <a:spAutoFit/>
          </a:bodyPr>
          <a:lstStyle/>
          <a:p>
            <a:r>
              <a:rPr lang="en-US" dirty="0"/>
              <a:t>ID</a:t>
            </a:r>
          </a:p>
        </p:txBody>
      </p:sp>
      <p:sp>
        <p:nvSpPr>
          <p:cNvPr id="9" name="CasetăText 8">
            <a:extLst>
              <a:ext uri="{FF2B5EF4-FFF2-40B4-BE49-F238E27FC236}">
                <a16:creationId xmlns:a16="http://schemas.microsoft.com/office/drawing/2014/main" id="{5B5A4E83-970F-937C-9ABE-1E91869D85F4}"/>
              </a:ext>
            </a:extLst>
          </p:cNvPr>
          <p:cNvSpPr txBox="1"/>
          <p:nvPr/>
        </p:nvSpPr>
        <p:spPr>
          <a:xfrm>
            <a:off x="8039100" y="2043232"/>
            <a:ext cx="593560" cy="369332"/>
          </a:xfrm>
          <a:prstGeom prst="rect">
            <a:avLst/>
          </a:prstGeom>
          <a:noFill/>
        </p:spPr>
        <p:txBody>
          <a:bodyPr wrap="none" rtlCol="0">
            <a:spAutoFit/>
          </a:bodyPr>
          <a:lstStyle/>
          <a:p>
            <a:r>
              <a:rPr lang="en-US" dirty="0"/>
              <a:t>VAL</a:t>
            </a:r>
          </a:p>
        </p:txBody>
      </p:sp>
    </p:spTree>
    <p:extLst>
      <p:ext uri="{BB962C8B-B14F-4D97-AF65-F5344CB8AC3E}">
        <p14:creationId xmlns:p14="http://schemas.microsoft.com/office/powerpoint/2010/main" val="868207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0">
            <a:extLst>
              <a:ext uri="{FF2B5EF4-FFF2-40B4-BE49-F238E27FC236}">
                <a16:creationId xmlns:a16="http://schemas.microsoft.com/office/drawing/2014/main" id="{327AB4C5-0719-4E35-87CD-199EB59E3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2">
            <a:extLst>
              <a:ext uri="{FF2B5EF4-FFF2-40B4-BE49-F238E27FC236}">
                <a16:creationId xmlns:a16="http://schemas.microsoft.com/office/drawing/2014/main" id="{3F51EE1E-6258-4F09-963A-853315C6F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1127553" y="-1127553"/>
            <a:ext cx="6858000" cy="9113106"/>
          </a:xfrm>
          <a:custGeom>
            <a:avLst/>
            <a:gdLst>
              <a:gd name="connsiteX0" fmla="*/ 0 w 6858000"/>
              <a:gd name="connsiteY0" fmla="*/ 7143270 h 9113106"/>
              <a:gd name="connsiteX1" fmla="*/ 0 w 6858000"/>
              <a:gd name="connsiteY1" fmla="*/ 6878623 h 9113106"/>
              <a:gd name="connsiteX2" fmla="*/ 1 w 6858000"/>
              <a:gd name="connsiteY2" fmla="*/ 6878623 h 9113106"/>
              <a:gd name="connsiteX3" fmla="*/ 0 w 6858000"/>
              <a:gd name="connsiteY3" fmla="*/ 4319945 h 9113106"/>
              <a:gd name="connsiteX4" fmla="*/ 1 w 6858000"/>
              <a:gd name="connsiteY4" fmla="*/ 4319945 h 9113106"/>
              <a:gd name="connsiteX5" fmla="*/ 1 w 6858000"/>
              <a:gd name="connsiteY5" fmla="*/ 13542 h 9113106"/>
              <a:gd name="connsiteX6" fmla="*/ 0 w 6858000"/>
              <a:gd name="connsiteY6" fmla="*/ 13540 h 9113106"/>
              <a:gd name="connsiteX7" fmla="*/ 0 w 6858000"/>
              <a:gd name="connsiteY7" fmla="*/ 0 h 9113106"/>
              <a:gd name="connsiteX8" fmla="*/ 6858000 w 6858000"/>
              <a:gd name="connsiteY8" fmla="*/ 6010591 h 9113106"/>
              <a:gd name="connsiteX9" fmla="*/ 6858000 w 6858000"/>
              <a:gd name="connsiteY9" fmla="*/ 3794798 h 9113106"/>
              <a:gd name="connsiteX10" fmla="*/ 6858000 w 6858000"/>
              <a:gd name="connsiteY10" fmla="*/ 3794798 h 9113106"/>
              <a:gd name="connsiteX11" fmla="*/ 6858000 w 6858000"/>
              <a:gd name="connsiteY11" fmla="*/ 3837120 h 9113106"/>
              <a:gd name="connsiteX12" fmla="*/ 6858000 w 6858000"/>
              <a:gd name="connsiteY12" fmla="*/ 6838049 h 9113106"/>
              <a:gd name="connsiteX13" fmla="*/ 6858000 w 6858000"/>
              <a:gd name="connsiteY13" fmla="*/ 9113106 h 9113106"/>
              <a:gd name="connsiteX14" fmla="*/ 1 w 6858000"/>
              <a:gd name="connsiteY14" fmla="*/ 9113106 h 9113106"/>
              <a:gd name="connsiteX15" fmla="*/ 1 w 6858000"/>
              <a:gd name="connsiteY15" fmla="*/ 7143270 h 9113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8000" h="9113106">
                <a:moveTo>
                  <a:pt x="0" y="7143270"/>
                </a:moveTo>
                <a:lnTo>
                  <a:pt x="0" y="6878623"/>
                </a:lnTo>
                <a:lnTo>
                  <a:pt x="1" y="6878623"/>
                </a:lnTo>
                <a:lnTo>
                  <a:pt x="0" y="4319945"/>
                </a:lnTo>
                <a:lnTo>
                  <a:pt x="1" y="4319945"/>
                </a:lnTo>
                <a:lnTo>
                  <a:pt x="1" y="13542"/>
                </a:lnTo>
                <a:lnTo>
                  <a:pt x="0" y="13540"/>
                </a:lnTo>
                <a:lnTo>
                  <a:pt x="0" y="0"/>
                </a:lnTo>
                <a:lnTo>
                  <a:pt x="6858000" y="6010591"/>
                </a:lnTo>
                <a:lnTo>
                  <a:pt x="6858000" y="3794798"/>
                </a:lnTo>
                <a:lnTo>
                  <a:pt x="6858000" y="3794798"/>
                </a:lnTo>
                <a:lnTo>
                  <a:pt x="6858000" y="3837120"/>
                </a:lnTo>
                <a:lnTo>
                  <a:pt x="6858000" y="6838049"/>
                </a:lnTo>
                <a:lnTo>
                  <a:pt x="6858000" y="9113106"/>
                </a:lnTo>
                <a:lnTo>
                  <a:pt x="1" y="9113106"/>
                </a:lnTo>
                <a:lnTo>
                  <a:pt x="1" y="714327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u 1">
            <a:extLst>
              <a:ext uri="{FF2B5EF4-FFF2-40B4-BE49-F238E27FC236}">
                <a16:creationId xmlns:a16="http://schemas.microsoft.com/office/drawing/2014/main" id="{56CBEF83-291C-E60E-5DD2-675C70F704FD}"/>
              </a:ext>
            </a:extLst>
          </p:cNvPr>
          <p:cNvSpPr>
            <a:spLocks noGrp="1"/>
          </p:cNvSpPr>
          <p:nvPr>
            <p:ph type="title"/>
          </p:nvPr>
        </p:nvSpPr>
        <p:spPr>
          <a:xfrm>
            <a:off x="1143001" y="872935"/>
            <a:ext cx="5999018" cy="1360898"/>
          </a:xfrm>
        </p:spPr>
        <p:txBody>
          <a:bodyPr vert="horz" lIns="91440" tIns="45720" rIns="91440" bIns="45720" rtlCol="0" anchor="ctr">
            <a:normAutofit/>
          </a:bodyPr>
          <a:lstStyle/>
          <a:p>
            <a:r>
              <a:rPr lang="en-US" kern="1200" dirty="0">
                <a:solidFill>
                  <a:schemeClr val="tx1"/>
                </a:solidFill>
                <a:latin typeface="+mj-lt"/>
                <a:ea typeface="+mj-ea"/>
                <a:cs typeface="+mj-cs"/>
              </a:rPr>
              <a:t>The Best Approximation</a:t>
            </a:r>
          </a:p>
        </p:txBody>
      </p:sp>
      <p:sp>
        <p:nvSpPr>
          <p:cNvPr id="6" name="CasetăText 5">
            <a:extLst>
              <a:ext uri="{FF2B5EF4-FFF2-40B4-BE49-F238E27FC236}">
                <a16:creationId xmlns:a16="http://schemas.microsoft.com/office/drawing/2014/main" id="{CFFC4DEB-9355-50A6-C16F-23930A02AD47}"/>
              </a:ext>
            </a:extLst>
          </p:cNvPr>
          <p:cNvSpPr txBox="1"/>
          <p:nvPr/>
        </p:nvSpPr>
        <p:spPr>
          <a:xfrm>
            <a:off x="1143000" y="2840609"/>
            <a:ext cx="4953000" cy="3567118"/>
          </a:xfrm>
          <a:prstGeom prst="rect">
            <a:avLst/>
          </a:prstGeom>
        </p:spPr>
        <p:txBody>
          <a:bodyPr vert="horz" lIns="91440" tIns="45720" rIns="91440" bIns="45720" rtlCol="0" anchor="t">
            <a:normAutofit/>
          </a:bodyPr>
          <a:lstStyle/>
          <a:p>
            <a:pPr>
              <a:lnSpc>
                <a:spcPct val="120000"/>
              </a:lnSpc>
              <a:spcAft>
                <a:spcPts val="600"/>
              </a:spcAft>
            </a:pPr>
            <a:r>
              <a:rPr lang="en-US" dirty="0"/>
              <a:t>As you can see on the plot, here is the comparison between the validation and the best model obtained by us which is at the degree 14 of the polynomial.</a:t>
            </a:r>
          </a:p>
        </p:txBody>
      </p:sp>
      <p:pic>
        <p:nvPicPr>
          <p:cNvPr id="5" name="Substituent conținut 4" descr="O imagine care conține captură de ecran&#10;&#10;Conținutul generat de inteligența artificială poate fi incorect.">
            <a:extLst>
              <a:ext uri="{FF2B5EF4-FFF2-40B4-BE49-F238E27FC236}">
                <a16:creationId xmlns:a16="http://schemas.microsoft.com/office/drawing/2014/main" id="{49654B0F-1927-B0B6-044F-579A34D3E0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26294" y="1919283"/>
            <a:ext cx="5573624" cy="3567118"/>
          </a:xfrm>
          <a:prstGeom prst="rect">
            <a:avLst/>
          </a:prstGeom>
        </p:spPr>
      </p:pic>
      <p:cxnSp>
        <p:nvCxnSpPr>
          <p:cNvPr id="15" name="Straight Connector 14">
            <a:extLst>
              <a:ext uri="{FF2B5EF4-FFF2-40B4-BE49-F238E27FC236}">
                <a16:creationId xmlns:a16="http://schemas.microsoft.com/office/drawing/2014/main" id="{7FA07B03-7E5B-4F33-A494-D72BC5BEB0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7605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F416FD31-4E8E-826A-38F8-1AEF5CD03EEE}"/>
              </a:ext>
            </a:extLst>
          </p:cNvPr>
          <p:cNvSpPr>
            <a:spLocks noGrp="1"/>
          </p:cNvSpPr>
          <p:nvPr>
            <p:ph type="title"/>
          </p:nvPr>
        </p:nvSpPr>
        <p:spPr>
          <a:xfrm>
            <a:off x="1143000" y="634810"/>
            <a:ext cx="9905999" cy="1360898"/>
          </a:xfrm>
        </p:spPr>
        <p:txBody>
          <a:bodyPr/>
          <a:lstStyle/>
          <a:p>
            <a:r>
              <a:rPr lang="en-US" dirty="0"/>
              <a:t>The Simulation vs Validation plot</a:t>
            </a:r>
          </a:p>
        </p:txBody>
      </p:sp>
      <p:pic>
        <p:nvPicPr>
          <p:cNvPr id="5" name="Substituent conținut 4" descr="O imagine care conține captură de ecran&#10;&#10;Conținutul generat de inteligența artificială poate fi incorect.">
            <a:extLst>
              <a:ext uri="{FF2B5EF4-FFF2-40B4-BE49-F238E27FC236}">
                <a16:creationId xmlns:a16="http://schemas.microsoft.com/office/drawing/2014/main" id="{C5F8BAE2-668A-3A9E-CF86-65C7BC8F1D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8949" y="1891583"/>
            <a:ext cx="6134099" cy="3918888"/>
          </a:xfrm>
        </p:spPr>
      </p:pic>
    </p:spTree>
    <p:extLst>
      <p:ext uri="{BB962C8B-B14F-4D97-AF65-F5344CB8AC3E}">
        <p14:creationId xmlns:p14="http://schemas.microsoft.com/office/powerpoint/2010/main" val="533434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EECF5-251E-C90E-7097-807631D4FA49}"/>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24A10662-436B-7A19-B395-2581BCED37B3}"/>
              </a:ext>
            </a:extLst>
          </p:cNvPr>
          <p:cNvSpPr>
            <a:spLocks noGrp="1"/>
          </p:cNvSpPr>
          <p:nvPr>
            <p:ph type="title"/>
          </p:nvPr>
        </p:nvSpPr>
        <p:spPr>
          <a:xfrm>
            <a:off x="1143000" y="634810"/>
            <a:ext cx="9905999" cy="1360898"/>
          </a:xfrm>
        </p:spPr>
        <p:txBody>
          <a:bodyPr/>
          <a:lstStyle/>
          <a:p>
            <a:r>
              <a:rPr lang="en-US" dirty="0"/>
              <a:t>The Prediction vs Validation plot</a:t>
            </a:r>
          </a:p>
        </p:txBody>
      </p:sp>
      <p:pic>
        <p:nvPicPr>
          <p:cNvPr id="7" name="Substituent conținut 6" descr="O imagine care conține captură de ecran&#10;&#10;Conținutul generat de inteligența artificială poate fi incorect.">
            <a:extLst>
              <a:ext uri="{FF2B5EF4-FFF2-40B4-BE49-F238E27FC236}">
                <a16:creationId xmlns:a16="http://schemas.microsoft.com/office/drawing/2014/main" id="{E18BDE92-C8C3-D1D8-A63A-93CB843655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4593" y="1838325"/>
            <a:ext cx="6102814" cy="3898900"/>
          </a:xfrm>
        </p:spPr>
      </p:pic>
    </p:spTree>
    <p:extLst>
      <p:ext uri="{BB962C8B-B14F-4D97-AF65-F5344CB8AC3E}">
        <p14:creationId xmlns:p14="http://schemas.microsoft.com/office/powerpoint/2010/main" val="2722814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742201F2-04A3-67B1-87E0-F1AD83A00479}"/>
              </a:ext>
            </a:extLst>
          </p:cNvPr>
          <p:cNvSpPr>
            <a:spLocks noGrp="1"/>
          </p:cNvSpPr>
          <p:nvPr>
            <p:ph type="title"/>
          </p:nvPr>
        </p:nvSpPr>
        <p:spPr/>
        <p:txBody>
          <a:bodyPr/>
          <a:lstStyle/>
          <a:p>
            <a:r>
              <a:rPr lang="en-US" dirty="0"/>
              <a:t>Discussions</a:t>
            </a:r>
            <a:br>
              <a:rPr lang="en-US" dirty="0"/>
            </a:br>
            <a:r>
              <a:rPr lang="en-US" dirty="0"/>
              <a:t>points</a:t>
            </a:r>
          </a:p>
        </p:txBody>
      </p:sp>
      <p:sp>
        <p:nvSpPr>
          <p:cNvPr id="3" name="Substituent conținut 2">
            <a:extLst>
              <a:ext uri="{FF2B5EF4-FFF2-40B4-BE49-F238E27FC236}">
                <a16:creationId xmlns:a16="http://schemas.microsoft.com/office/drawing/2014/main" id="{74D105DE-8703-1331-F250-D72510B9AAF9}"/>
              </a:ext>
            </a:extLst>
          </p:cNvPr>
          <p:cNvSpPr>
            <a:spLocks noGrp="1"/>
          </p:cNvSpPr>
          <p:nvPr>
            <p:ph idx="1"/>
          </p:nvPr>
        </p:nvSpPr>
        <p:spPr/>
        <p:txBody>
          <a:bodyPr/>
          <a:lstStyle/>
          <a:p>
            <a:r>
              <a:rPr lang="en-US" dirty="0"/>
              <a:t>We chose the optimal degree of the polynomial by looking for the minimum value of the MSE.</a:t>
            </a:r>
          </a:p>
          <a:p>
            <a:r>
              <a:rPr lang="en-US" dirty="0"/>
              <a:t>The model was performing alright on the identification data and it performed almost perfectly on the validation data, having an error of only 6.71e-19.</a:t>
            </a:r>
          </a:p>
          <a:p>
            <a:r>
              <a:rPr lang="en-US" dirty="0"/>
              <a:t>We observe overfitting of the data after degree 15.</a:t>
            </a:r>
          </a:p>
          <a:p>
            <a:endParaRPr lang="en-US" dirty="0"/>
          </a:p>
        </p:txBody>
      </p:sp>
    </p:spTree>
    <p:extLst>
      <p:ext uri="{BB962C8B-B14F-4D97-AF65-F5344CB8AC3E}">
        <p14:creationId xmlns:p14="http://schemas.microsoft.com/office/powerpoint/2010/main" val="50775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74069294-D7A9-0550-D69A-8569F8D9D821}"/>
              </a:ext>
            </a:extLst>
          </p:cNvPr>
          <p:cNvSpPr>
            <a:spLocks noGrp="1"/>
          </p:cNvSpPr>
          <p:nvPr>
            <p:ph type="title"/>
          </p:nvPr>
        </p:nvSpPr>
        <p:spPr/>
        <p:txBody>
          <a:bodyPr/>
          <a:lstStyle/>
          <a:p>
            <a:r>
              <a:rPr lang="en-US" dirty="0"/>
              <a:t>Overall conclusion</a:t>
            </a:r>
          </a:p>
        </p:txBody>
      </p:sp>
      <p:sp>
        <p:nvSpPr>
          <p:cNvPr id="3" name="Substituent conținut 2">
            <a:extLst>
              <a:ext uri="{FF2B5EF4-FFF2-40B4-BE49-F238E27FC236}">
                <a16:creationId xmlns:a16="http://schemas.microsoft.com/office/drawing/2014/main" id="{FA2DCC28-B93F-0A9A-10C1-7D665882203C}"/>
              </a:ext>
            </a:extLst>
          </p:cNvPr>
          <p:cNvSpPr>
            <a:spLocks noGrp="1"/>
          </p:cNvSpPr>
          <p:nvPr>
            <p:ph idx="1"/>
          </p:nvPr>
        </p:nvSpPr>
        <p:spPr/>
        <p:txBody>
          <a:bodyPr/>
          <a:lstStyle/>
          <a:p>
            <a:r>
              <a:rPr lang="en-US" dirty="0"/>
              <a:t>A polynomial nonlinear ARX model was successfully identified to approximate the unknown system using input–output data. </a:t>
            </a:r>
          </a:p>
          <a:p>
            <a:r>
              <a:rPr lang="en-US" dirty="0"/>
              <a:t>The model captured nonlinear dynamics while remaining linear in the parameters, allowing efficient estimation via least squares. </a:t>
            </a:r>
          </a:p>
          <a:p>
            <a:r>
              <a:rPr lang="en-US" dirty="0"/>
              <a:t>Validation results showed good prediction and simulation performance, confirming the suitability of the nonlinear ARX approach for black-box system identification.</a:t>
            </a:r>
          </a:p>
        </p:txBody>
      </p:sp>
    </p:spTree>
    <p:extLst>
      <p:ext uri="{BB962C8B-B14F-4D97-AF65-F5344CB8AC3E}">
        <p14:creationId xmlns:p14="http://schemas.microsoft.com/office/powerpoint/2010/main" val="1579160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ine 4" descr="O imagine care conține text, captură de ecran, Font, proiectare&#10;&#10;Conținutul generat de inteligența artificială poate fi incorect.">
            <a:extLst>
              <a:ext uri="{FF2B5EF4-FFF2-40B4-BE49-F238E27FC236}">
                <a16:creationId xmlns:a16="http://schemas.microsoft.com/office/drawing/2014/main" id="{5CC0FB67-FF7E-0080-74AD-4D05A1289036}"/>
              </a:ext>
            </a:extLst>
          </p:cNvPr>
          <p:cNvPicPr>
            <a:picLocks noChangeAspect="1"/>
          </p:cNvPicPr>
          <p:nvPr/>
        </p:nvPicPr>
        <p:blipFill>
          <a:blip r:embed="rId2"/>
          <a:stretch>
            <a:fillRect/>
          </a:stretch>
        </p:blipFill>
        <p:spPr>
          <a:xfrm>
            <a:off x="491881" y="1429411"/>
            <a:ext cx="3517119" cy="3993032"/>
          </a:xfrm>
          <a:prstGeom prst="rect">
            <a:avLst/>
          </a:prstGeom>
        </p:spPr>
      </p:pic>
      <p:cxnSp>
        <p:nvCxnSpPr>
          <p:cNvPr id="14" name="Straight Connector 13">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9" name="Imagine 8" descr="O imagine care conține text, Font, captură de ecran&#10;&#10;Conținutul generat de inteligența artificială poate fi incorect.">
            <a:extLst>
              <a:ext uri="{FF2B5EF4-FFF2-40B4-BE49-F238E27FC236}">
                <a16:creationId xmlns:a16="http://schemas.microsoft.com/office/drawing/2014/main" id="{74285013-4A41-44B6-ACD7-D37C61ABA1B4}"/>
              </a:ext>
            </a:extLst>
          </p:cNvPr>
          <p:cNvPicPr>
            <a:picLocks noChangeAspect="1"/>
          </p:cNvPicPr>
          <p:nvPr/>
        </p:nvPicPr>
        <p:blipFill>
          <a:blip r:embed="rId3"/>
          <a:stretch>
            <a:fillRect/>
          </a:stretch>
        </p:blipFill>
        <p:spPr>
          <a:xfrm>
            <a:off x="8152521" y="2756815"/>
            <a:ext cx="3537345" cy="1338224"/>
          </a:xfrm>
          <a:prstGeom prst="rect">
            <a:avLst/>
          </a:prstGeom>
        </p:spPr>
      </p:pic>
      <p:cxnSp>
        <p:nvCxnSpPr>
          <p:cNvPr id="16" name="Straight Connector 15">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7" name="Imagine 6" descr="O imagine care conține text, captură de ecran, Font&#10;&#10;Conținutul generat de inteligența artificială poate fi incorect.">
            <a:extLst>
              <a:ext uri="{FF2B5EF4-FFF2-40B4-BE49-F238E27FC236}">
                <a16:creationId xmlns:a16="http://schemas.microsoft.com/office/drawing/2014/main" id="{DA4674C9-EB0E-A1AB-FD44-FAD66E7AA11A}"/>
              </a:ext>
            </a:extLst>
          </p:cNvPr>
          <p:cNvPicPr>
            <a:picLocks noChangeAspect="1"/>
          </p:cNvPicPr>
          <p:nvPr/>
        </p:nvPicPr>
        <p:blipFill>
          <a:blip r:embed="rId4"/>
          <a:stretch>
            <a:fillRect/>
          </a:stretch>
        </p:blipFill>
        <p:spPr>
          <a:xfrm>
            <a:off x="4322199" y="2300449"/>
            <a:ext cx="3517120" cy="2250956"/>
          </a:xfrm>
          <a:prstGeom prst="rect">
            <a:avLst/>
          </a:prstGeom>
        </p:spPr>
      </p:pic>
    </p:spTree>
    <p:extLst>
      <p:ext uri="{BB962C8B-B14F-4D97-AF65-F5344CB8AC3E}">
        <p14:creationId xmlns:p14="http://schemas.microsoft.com/office/powerpoint/2010/main" val="868584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CCE78-BA5C-8FF4-948C-7B44F0D8A0D3}"/>
            </a:ext>
          </a:extLst>
        </p:cNvPr>
        <p:cNvGrpSpPr/>
        <p:nvPr/>
      </p:nvGrpSpPr>
      <p:grpSpPr>
        <a:xfrm>
          <a:off x="0" y="0"/>
          <a:ext cx="0" cy="0"/>
          <a:chOff x="0" y="0"/>
          <a:chExt cx="0" cy="0"/>
        </a:xfrm>
      </p:grpSpPr>
      <p:pic>
        <p:nvPicPr>
          <p:cNvPr id="3" name="Imagine 2" descr="O imagine care conține text, captură de ecran, Font&#10;&#10;Conținutul generat de inteligența artificială poate fi incorect.">
            <a:extLst>
              <a:ext uri="{FF2B5EF4-FFF2-40B4-BE49-F238E27FC236}">
                <a16:creationId xmlns:a16="http://schemas.microsoft.com/office/drawing/2014/main" id="{48F05FF9-8B84-205C-157E-43B0FB5C4BD8}"/>
              </a:ext>
            </a:extLst>
          </p:cNvPr>
          <p:cNvPicPr>
            <a:picLocks noChangeAspect="1"/>
          </p:cNvPicPr>
          <p:nvPr/>
        </p:nvPicPr>
        <p:blipFill>
          <a:blip r:embed="rId2"/>
          <a:stretch>
            <a:fillRect/>
          </a:stretch>
        </p:blipFill>
        <p:spPr>
          <a:xfrm>
            <a:off x="590550" y="2201056"/>
            <a:ext cx="3457575" cy="2097217"/>
          </a:xfrm>
          <a:prstGeom prst="rect">
            <a:avLst/>
          </a:prstGeom>
        </p:spPr>
      </p:pic>
      <p:pic>
        <p:nvPicPr>
          <p:cNvPr id="5" name="Imagine 4" descr="O imagine care conține text, Font, captură de ecran&#10;&#10;Conținutul generat de inteligența artificială poate fi incorect.">
            <a:extLst>
              <a:ext uri="{FF2B5EF4-FFF2-40B4-BE49-F238E27FC236}">
                <a16:creationId xmlns:a16="http://schemas.microsoft.com/office/drawing/2014/main" id="{3BEB66E4-EEF0-C071-2BF2-776FB280AF32}"/>
              </a:ext>
            </a:extLst>
          </p:cNvPr>
          <p:cNvPicPr>
            <a:picLocks noChangeAspect="1"/>
          </p:cNvPicPr>
          <p:nvPr/>
        </p:nvPicPr>
        <p:blipFill>
          <a:blip r:embed="rId3"/>
          <a:stretch>
            <a:fillRect/>
          </a:stretch>
        </p:blipFill>
        <p:spPr>
          <a:xfrm>
            <a:off x="4267200" y="2886075"/>
            <a:ext cx="3207914" cy="900111"/>
          </a:xfrm>
          <a:prstGeom prst="rect">
            <a:avLst/>
          </a:prstGeom>
        </p:spPr>
      </p:pic>
      <p:pic>
        <p:nvPicPr>
          <p:cNvPr id="7" name="Imagine 6" descr="O imagine care conține text, captură de ecran, Font&#10;&#10;Conținutul generat de inteligența artificială poate fi incorect.">
            <a:extLst>
              <a:ext uri="{FF2B5EF4-FFF2-40B4-BE49-F238E27FC236}">
                <a16:creationId xmlns:a16="http://schemas.microsoft.com/office/drawing/2014/main" id="{2CFAB353-A853-5C91-BBD8-12CD20CD6D6E}"/>
              </a:ext>
            </a:extLst>
          </p:cNvPr>
          <p:cNvPicPr>
            <a:picLocks noChangeAspect="1"/>
          </p:cNvPicPr>
          <p:nvPr/>
        </p:nvPicPr>
        <p:blipFill>
          <a:blip r:embed="rId4"/>
          <a:stretch>
            <a:fillRect/>
          </a:stretch>
        </p:blipFill>
        <p:spPr>
          <a:xfrm>
            <a:off x="7694189" y="2176462"/>
            <a:ext cx="4390338" cy="2505075"/>
          </a:xfrm>
          <a:prstGeom prst="rect">
            <a:avLst/>
          </a:prstGeom>
        </p:spPr>
      </p:pic>
      <p:cxnSp>
        <p:nvCxnSpPr>
          <p:cNvPr id="9" name="Conector drept 8">
            <a:extLst>
              <a:ext uri="{FF2B5EF4-FFF2-40B4-BE49-F238E27FC236}">
                <a16:creationId xmlns:a16="http://schemas.microsoft.com/office/drawing/2014/main" id="{C261839F-2F11-7576-BB3D-92AFC5D325AF}"/>
              </a:ext>
            </a:extLst>
          </p:cNvPr>
          <p:cNvCxnSpPr/>
          <p:nvPr/>
        </p:nvCxnSpPr>
        <p:spPr>
          <a:xfrm>
            <a:off x="4158558" y="1704975"/>
            <a:ext cx="0" cy="344805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drept 9">
            <a:extLst>
              <a:ext uri="{FF2B5EF4-FFF2-40B4-BE49-F238E27FC236}">
                <a16:creationId xmlns:a16="http://schemas.microsoft.com/office/drawing/2014/main" id="{D071D7C0-8B6D-C280-A5A1-809FBA661795}"/>
              </a:ext>
            </a:extLst>
          </p:cNvPr>
          <p:cNvCxnSpPr/>
          <p:nvPr/>
        </p:nvCxnSpPr>
        <p:spPr>
          <a:xfrm>
            <a:off x="7579259" y="1704975"/>
            <a:ext cx="0" cy="344805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1092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00BADB-09FD-A81F-F9E0-BA29B7303DAE}"/>
            </a:ext>
          </a:extLst>
        </p:cNvPr>
        <p:cNvGrpSpPr/>
        <p:nvPr/>
      </p:nvGrpSpPr>
      <p:grpSpPr>
        <a:xfrm>
          <a:off x="0" y="0"/>
          <a:ext cx="0" cy="0"/>
          <a:chOff x="0" y="0"/>
          <a:chExt cx="0" cy="0"/>
        </a:xfrm>
      </p:grpSpPr>
      <p:pic>
        <p:nvPicPr>
          <p:cNvPr id="5" name="Imagine 4" descr="O imagine care conține text, captură de ecran, Font&#10;&#10;Conținutul generat de inteligența artificială poate fi incorect.">
            <a:extLst>
              <a:ext uri="{FF2B5EF4-FFF2-40B4-BE49-F238E27FC236}">
                <a16:creationId xmlns:a16="http://schemas.microsoft.com/office/drawing/2014/main" id="{72729F52-1E9B-FE9B-3EB2-471D49868E17}"/>
              </a:ext>
            </a:extLst>
          </p:cNvPr>
          <p:cNvPicPr>
            <a:picLocks noChangeAspect="1"/>
          </p:cNvPicPr>
          <p:nvPr/>
        </p:nvPicPr>
        <p:blipFill>
          <a:blip r:embed="rId2"/>
          <a:stretch>
            <a:fillRect/>
          </a:stretch>
        </p:blipFill>
        <p:spPr>
          <a:xfrm>
            <a:off x="4278311" y="2104504"/>
            <a:ext cx="3517119" cy="2928597"/>
          </a:xfrm>
          <a:prstGeom prst="rect">
            <a:avLst/>
          </a:prstGeom>
        </p:spPr>
      </p:pic>
      <p:cxnSp>
        <p:nvCxnSpPr>
          <p:cNvPr id="12" name="Straight Connector 11">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7" name="Imagine 6" descr="O imagine care conține text, captură de ecran, Font&#10;&#10;Conținutul generat de inteligența artificială poate fi incorect.">
            <a:extLst>
              <a:ext uri="{FF2B5EF4-FFF2-40B4-BE49-F238E27FC236}">
                <a16:creationId xmlns:a16="http://schemas.microsoft.com/office/drawing/2014/main" id="{A5A425FB-DD15-2A24-7176-C4D17FC5A59D}"/>
              </a:ext>
            </a:extLst>
          </p:cNvPr>
          <p:cNvPicPr>
            <a:picLocks noChangeAspect="1"/>
          </p:cNvPicPr>
          <p:nvPr/>
        </p:nvPicPr>
        <p:blipFill>
          <a:blip r:embed="rId3"/>
          <a:stretch>
            <a:fillRect/>
          </a:stretch>
        </p:blipFill>
        <p:spPr>
          <a:xfrm>
            <a:off x="8196411" y="2793626"/>
            <a:ext cx="3537345" cy="1264600"/>
          </a:xfrm>
          <a:prstGeom prst="rect">
            <a:avLst/>
          </a:prstGeom>
        </p:spPr>
      </p:pic>
      <p:cxnSp>
        <p:nvCxnSpPr>
          <p:cNvPr id="14" name="Straight Connector 13">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3" name="Imagine 2" descr="O imagine care conține text, Font, captură de ecran, proiectare&#10;&#10;Conținutul generat de inteligența artificială poate fi incorect.">
            <a:extLst>
              <a:ext uri="{FF2B5EF4-FFF2-40B4-BE49-F238E27FC236}">
                <a16:creationId xmlns:a16="http://schemas.microsoft.com/office/drawing/2014/main" id="{AD97BEE5-611F-F3A4-6988-6651C880564F}"/>
              </a:ext>
            </a:extLst>
          </p:cNvPr>
          <p:cNvPicPr>
            <a:picLocks noChangeAspect="1"/>
          </p:cNvPicPr>
          <p:nvPr/>
        </p:nvPicPr>
        <p:blipFill>
          <a:blip r:embed="rId4"/>
          <a:stretch>
            <a:fillRect/>
          </a:stretch>
        </p:blipFill>
        <p:spPr>
          <a:xfrm>
            <a:off x="447990" y="2405654"/>
            <a:ext cx="3517120" cy="2040544"/>
          </a:xfrm>
          <a:prstGeom prst="rect">
            <a:avLst/>
          </a:prstGeom>
        </p:spPr>
      </p:pic>
    </p:spTree>
    <p:extLst>
      <p:ext uri="{BB962C8B-B14F-4D97-AF65-F5344CB8AC3E}">
        <p14:creationId xmlns:p14="http://schemas.microsoft.com/office/powerpoint/2010/main" val="918099639"/>
      </p:ext>
    </p:extLst>
  </p:cSld>
  <p:clrMapOvr>
    <a:masterClrMapping/>
  </p:clrMapOvr>
</p:sld>
</file>

<file path=ppt/theme/theme1.xml><?xml version="1.0" encoding="utf-8"?>
<a:theme xmlns:a="http://schemas.openxmlformats.org/drawingml/2006/main" name="RegattaVTI">
  <a:themeElements>
    <a:clrScheme name="Regatta Yellow">
      <a:dk1>
        <a:sysClr val="windowText" lastClr="000000"/>
      </a:dk1>
      <a:lt1>
        <a:sysClr val="window" lastClr="FFFFFF"/>
      </a:lt1>
      <a:dk2>
        <a:srgbClr val="181C30"/>
      </a:dk2>
      <a:lt2>
        <a:srgbClr val="C8E1F4"/>
      </a:lt2>
      <a:accent1>
        <a:srgbClr val="217ED3"/>
      </a:accent1>
      <a:accent2>
        <a:srgbClr val="B92525"/>
      </a:accent2>
      <a:accent3>
        <a:srgbClr val="18558C"/>
      </a:accent3>
      <a:accent4>
        <a:srgbClr val="1D8B35"/>
      </a:accent4>
      <a:accent5>
        <a:srgbClr val="EA75AA"/>
      </a:accent5>
      <a:accent6>
        <a:srgbClr val="F5A700"/>
      </a:accent6>
      <a:hlink>
        <a:srgbClr val="DB0000"/>
      </a:hlink>
      <a:folHlink>
        <a:srgbClr val="066BB6"/>
      </a:folHlink>
    </a:clrScheme>
    <a:fontScheme name="Walbaum Display">
      <a:majorFont>
        <a:latin typeface="Walbaum Display"/>
        <a:ea typeface=""/>
        <a:cs typeface=""/>
      </a:majorFont>
      <a:minorFont>
        <a:latin typeface="Walbaum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gattaVTI" id="{FFC3BCE5-6357-41D1-8E67-3F85B69D7E86}" vid="{893A6374-FE17-48E5-8B62-678C1B11AA1B}"/>
    </a:ext>
  </a:extLst>
</a:theme>
</file>

<file path=docProps/app.xml><?xml version="1.0" encoding="utf-8"?>
<Properties xmlns="http://schemas.openxmlformats.org/officeDocument/2006/extended-properties" xmlns:vt="http://schemas.openxmlformats.org/officeDocument/2006/docPropsVTypes">
  <TotalTime>0</TotalTime>
  <Words>518</Words>
  <Application>Microsoft Office PowerPoint</Application>
  <PresentationFormat>Ecran lat</PresentationFormat>
  <Paragraphs>48</Paragraphs>
  <Slides>15</Slides>
  <Notes>0</Notes>
  <HiddenSlides>0</HiddenSlides>
  <MMClips>0</MMClips>
  <ScaleCrop>false</ScaleCrop>
  <HeadingPairs>
    <vt:vector size="6" baseType="variant">
      <vt:variant>
        <vt:lpstr>Fonturi utilizate</vt:lpstr>
      </vt:variant>
      <vt:variant>
        <vt:i4>3</vt:i4>
      </vt:variant>
      <vt:variant>
        <vt:lpstr>Temă</vt:lpstr>
      </vt:variant>
      <vt:variant>
        <vt:i4>1</vt:i4>
      </vt:variant>
      <vt:variant>
        <vt:lpstr>Titluri diapozitive</vt:lpstr>
      </vt:variant>
      <vt:variant>
        <vt:i4>15</vt:i4>
      </vt:variant>
    </vt:vector>
  </HeadingPairs>
  <TitlesOfParts>
    <vt:vector size="19" baseType="lpstr">
      <vt:lpstr>Arial</vt:lpstr>
      <vt:lpstr>Cambria Math</vt:lpstr>
      <vt:lpstr>Walbaum Display</vt:lpstr>
      <vt:lpstr>RegattaVTI</vt:lpstr>
      <vt:lpstr>Project Part 2. Nonlinear ARX identification</vt:lpstr>
      <vt:lpstr>Our Task</vt:lpstr>
      <vt:lpstr>Nonlinear ARX Approximator Structure</vt:lpstr>
      <vt:lpstr>Our Solution</vt:lpstr>
      <vt:lpstr>Important Aspects</vt:lpstr>
      <vt:lpstr>Mean Squared Error</vt:lpstr>
      <vt:lpstr>The ID and VAL plots </vt:lpstr>
      <vt:lpstr>The Best Approximation</vt:lpstr>
      <vt:lpstr>The Simulation vs Validation plot</vt:lpstr>
      <vt:lpstr>The Prediction vs Validation plot</vt:lpstr>
      <vt:lpstr>Discussions points</vt:lpstr>
      <vt:lpstr>Overall conclusion</vt:lpstr>
      <vt:lpstr>Prezentare PowerPoint</vt:lpstr>
      <vt:lpstr>Prezentare PowerPoint</vt:lpstr>
      <vt:lpstr>Prezentare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Marcus Nichita</dc:creator>
  <cp:lastModifiedBy>Marcus Nichita</cp:lastModifiedBy>
  <cp:revision>1</cp:revision>
  <dcterms:created xsi:type="dcterms:W3CDTF">2026-01-06T11:38:38Z</dcterms:created>
  <dcterms:modified xsi:type="dcterms:W3CDTF">2026-01-06T13:48:48Z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2026-01-06T13:48:42Z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6e8e0741-4820-4ec6-ad0e-717c3acfc799</vt:lpwstr>
  </property>
  <property fmtid="{D5CDD505-2E9C-101B-9397-08002B2CF9AE}" pid="8" name="MSIP_Label_5b58b62f-6f94-46bd-8089-18e64b0a9abb_ContentBits">
    <vt:lpwstr>0</vt:lpwstr>
  </property>
  <property fmtid="{D5CDD505-2E9C-101B-9397-08002B2CF9AE}" pid="9" name="MSIP_Label_5b58b62f-6f94-46bd-8089-18e64b0a9abb_Tag">
    <vt:lpwstr>10, 3, 0, 1</vt:lpwstr>
  </property>
</Properties>
</file>