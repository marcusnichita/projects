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5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7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86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0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70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9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18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653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40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0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42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11/4/2025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23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9CF24-C52E-0013-E432-01E88B45AB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250"/>
          <a:stretch>
            <a:fillRect/>
          </a:stretch>
        </p:blipFill>
        <p:spPr>
          <a:xfrm>
            <a:off x="3331593" y="10"/>
            <a:ext cx="8860407" cy="6857990"/>
          </a:xfrm>
          <a:custGeom>
            <a:avLst/>
            <a:gdLst/>
            <a:ahLst/>
            <a:cxnLst/>
            <a:rect l="l" t="t" r="r" b="b"/>
            <a:pathLst>
              <a:path w="8860407" h="6858000">
                <a:moveTo>
                  <a:pt x="0" y="0"/>
                </a:moveTo>
                <a:lnTo>
                  <a:pt x="8860407" y="0"/>
                </a:lnTo>
                <a:lnTo>
                  <a:pt x="8860407" y="6858000"/>
                </a:lnTo>
                <a:lnTo>
                  <a:pt x="661049" y="6858000"/>
                </a:lnTo>
                <a:lnTo>
                  <a:pt x="832672" y="6662026"/>
                </a:lnTo>
                <a:cubicBezTo>
                  <a:pt x="1465328" y="5866432"/>
                  <a:pt x="1845374" y="4846462"/>
                  <a:pt x="1845374" y="3734370"/>
                </a:cubicBezTo>
                <a:cubicBezTo>
                  <a:pt x="1845374" y="2244963"/>
                  <a:pt x="1163691" y="920792"/>
                  <a:pt x="106458" y="79568"/>
                </a:cubicBezTo>
                <a:close/>
              </a:path>
            </a:pathLst>
          </a:cu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F7999838-1C89-DF06-D370-CEEDA724C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1128811"/>
            <a:ext cx="3447288" cy="3342290"/>
          </a:xfrm>
        </p:spPr>
        <p:txBody>
          <a:bodyPr anchor="b">
            <a:normAutofit/>
          </a:bodyPr>
          <a:lstStyle/>
          <a:p>
            <a:r>
              <a:rPr lang="en-US" sz="5400" noProof="0" dirty="0"/>
              <a:t>Project Part 1. Fitting an unknown function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41C896A8-47E4-104C-E859-32C3E4C17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3" y="4660288"/>
            <a:ext cx="3447287" cy="1126364"/>
          </a:xfrm>
        </p:spPr>
        <p:txBody>
          <a:bodyPr anchor="t">
            <a:normAutofit/>
          </a:bodyPr>
          <a:lstStyle/>
          <a:p>
            <a:r>
              <a:rPr lang="en-US" noProof="0" dirty="0"/>
              <a:t>By: Criste George, </a:t>
            </a:r>
            <a:r>
              <a:rPr lang="en-US" noProof="0" dirty="0" err="1"/>
              <a:t>Fogoș</a:t>
            </a:r>
            <a:r>
              <a:rPr lang="en-US" noProof="0" dirty="0"/>
              <a:t> Mihai, Nichita Marcus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1195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E87EEF61-87AF-53DA-CCBA-136C7CBA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Our Task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5E13B1-3A31-47C7-8474-7A3DE600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3888" y="1976039"/>
            <a:ext cx="10515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ine 4">
            <a:extLst>
              <a:ext uri="{FF2B5EF4-FFF2-40B4-BE49-F238E27FC236}">
                <a16:creationId xmlns:a16="http://schemas.microsoft.com/office/drawing/2014/main" id="{7E9E37ED-A8DE-D8CE-E385-C2C6E1F05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408583"/>
            <a:ext cx="6775703" cy="1331328"/>
          </a:xfrm>
          <a:prstGeom prst="rect">
            <a:avLst/>
          </a:prstGeom>
        </p:spPr>
      </p:pic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3DD8048-6F6E-2091-BFDC-68136DF2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666" y="2202302"/>
            <a:ext cx="3541205" cy="35797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noProof="0"/>
              <a:t>We were given a data set with values for “id” and for “val”, each containing input and output variables. </a:t>
            </a:r>
          </a:p>
          <a:p>
            <a:pPr>
              <a:lnSpc>
                <a:spcPct val="100000"/>
              </a:lnSpc>
            </a:pPr>
            <a:r>
              <a:rPr lang="en-US" noProof="0"/>
              <a:t>We had to use linear regression in order to approximate a set of values to match as closely as possible the graphical representation of the provided model.</a:t>
            </a:r>
          </a:p>
        </p:txBody>
      </p:sp>
      <p:sp>
        <p:nvSpPr>
          <p:cNvPr id="59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0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654D4C06-2674-EAF8-9D44-CA9B3628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dirty="0"/>
              <a:t>Our Solution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5E13B1-3A31-47C7-8474-7A3DE600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3888" y="1976039"/>
            <a:ext cx="10515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ine 4">
            <a:extLst>
              <a:ext uri="{FF2B5EF4-FFF2-40B4-BE49-F238E27FC236}">
                <a16:creationId xmlns:a16="http://schemas.microsoft.com/office/drawing/2014/main" id="{385D4316-F35B-5A27-87C9-63475AC2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00" y="2717316"/>
            <a:ext cx="3218345" cy="683898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E613B177-98B4-F17E-1C95-3FEF54A9A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402" y="2311000"/>
            <a:ext cx="3218345" cy="1496530"/>
          </a:xfrm>
          <a:prstGeom prst="rect">
            <a:avLst/>
          </a:prstGeom>
        </p:spPr>
      </p:pic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513F6DE-B172-6ED8-2271-4C7A61D99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666" y="2202302"/>
            <a:ext cx="3541205" cy="35797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/>
              <a:t>We started from the Newton’s Binomial  Expansion formula and after a series of computations we concluded that the results were very close to the regressors we needed, but not exactly them.</a:t>
            </a:r>
          </a:p>
          <a:p>
            <a:pPr>
              <a:lnSpc>
                <a:spcPct val="100000"/>
              </a:lnSpc>
            </a:pPr>
            <a:r>
              <a:rPr lang="en-US" sz="1700"/>
              <a:t>Than we came with an idea of using two sums to add each degree of the computation to reach the final and exact values for the regressors. </a:t>
            </a:r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0" name="CasetăText 29">
            <a:extLst>
              <a:ext uri="{FF2B5EF4-FFF2-40B4-BE49-F238E27FC236}">
                <a16:creationId xmlns:a16="http://schemas.microsoft.com/office/drawing/2014/main" id="{0FD903BD-36B3-4684-0427-F9A9546F5DB8}"/>
              </a:ext>
            </a:extLst>
          </p:cNvPr>
          <p:cNvSpPr txBox="1"/>
          <p:nvPr/>
        </p:nvSpPr>
        <p:spPr>
          <a:xfrm>
            <a:off x="431081" y="4568972"/>
            <a:ext cx="379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Newton’s Binomial Expansion</a:t>
            </a:r>
          </a:p>
        </p:txBody>
      </p:sp>
      <p:sp>
        <p:nvSpPr>
          <p:cNvPr id="31" name="CasetăText 30">
            <a:extLst>
              <a:ext uri="{FF2B5EF4-FFF2-40B4-BE49-F238E27FC236}">
                <a16:creationId xmlns:a16="http://schemas.microsoft.com/office/drawing/2014/main" id="{498DEC80-CA12-78A4-EEA1-9DB7CCF01218}"/>
              </a:ext>
            </a:extLst>
          </p:cNvPr>
          <p:cNvSpPr txBox="1"/>
          <p:nvPr/>
        </p:nvSpPr>
        <p:spPr>
          <a:xfrm>
            <a:off x="4322348" y="4142490"/>
            <a:ext cx="3541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final formula where:</a:t>
            </a:r>
          </a:p>
          <a:p>
            <a:r>
              <a:rPr lang="en-US" dirty="0"/>
              <a:t>t – the degree of the final polynomial</a:t>
            </a:r>
          </a:p>
          <a:p>
            <a:r>
              <a:rPr lang="en-US" dirty="0"/>
              <a:t>n – the degree of the current regressor</a:t>
            </a:r>
          </a:p>
        </p:txBody>
      </p:sp>
    </p:spTree>
    <p:extLst>
      <p:ext uri="{BB962C8B-B14F-4D97-AF65-F5344CB8AC3E}">
        <p14:creationId xmlns:p14="http://schemas.microsoft.com/office/powerpoint/2010/main" val="308348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81203A9F-1DFA-3061-5D4F-B2D2AB0F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dirty="0"/>
              <a:t>Mean Squared Error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5E13B1-3A31-47C7-8474-7A3DE600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3888" y="1976039"/>
            <a:ext cx="10515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ine 4">
            <a:extLst>
              <a:ext uri="{FF2B5EF4-FFF2-40B4-BE49-F238E27FC236}">
                <a16:creationId xmlns:a16="http://schemas.microsoft.com/office/drawing/2014/main" id="{F719EDF3-58ED-99C3-61BF-A04B8C6A5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63" y="2204640"/>
            <a:ext cx="3218345" cy="1383888"/>
          </a:xfrm>
          <a:prstGeom prst="rect">
            <a:avLst/>
          </a:prstGeom>
        </p:spPr>
      </p:pic>
      <p:pic>
        <p:nvPicPr>
          <p:cNvPr id="12" name="Substituent conținut 11">
            <a:extLst>
              <a:ext uri="{FF2B5EF4-FFF2-40B4-BE49-F238E27FC236}">
                <a16:creationId xmlns:a16="http://schemas.microsoft.com/office/drawing/2014/main" id="{A1E16377-3276-7800-0C16-887B89F92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88" y="2164262"/>
            <a:ext cx="4825737" cy="3350714"/>
          </a:xfrm>
        </p:spPr>
      </p:pic>
      <p:sp>
        <p:nvSpPr>
          <p:cNvPr id="19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912572F8-03FC-C564-DB0D-F319EE9B1A51}"/>
              </a:ext>
            </a:extLst>
          </p:cNvPr>
          <p:cNvSpPr txBox="1"/>
          <p:nvPr/>
        </p:nvSpPr>
        <p:spPr>
          <a:xfrm>
            <a:off x="7247376" y="3764036"/>
            <a:ext cx="3841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Mathematical formula for MSE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MSE represents the measure of how close a model’s predictions are to the actual values.</a:t>
            </a:r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02D3FCFA-4CD5-F08D-D69D-154A125ACE98}"/>
              </a:ext>
            </a:extLst>
          </p:cNvPr>
          <p:cNvSpPr txBox="1"/>
          <p:nvPr/>
        </p:nvSpPr>
        <p:spPr>
          <a:xfrm>
            <a:off x="1566068" y="5558947"/>
            <a:ext cx="3381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Our plot of the MSEs: the MSE of “</a:t>
            </a:r>
            <a:r>
              <a:rPr lang="en-US" dirty="0">
                <a:solidFill>
                  <a:schemeClr val="accent1"/>
                </a:solidFill>
              </a:rPr>
              <a:t>id</a:t>
            </a:r>
            <a:r>
              <a:rPr lang="en-US" dirty="0"/>
              <a:t>” and the MSE of “</a:t>
            </a:r>
            <a:r>
              <a:rPr lang="en-US" dirty="0">
                <a:solidFill>
                  <a:schemeClr val="accent3"/>
                </a:solidFill>
              </a:rPr>
              <a:t>val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149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83724ECB-A1E7-8821-C810-79F46A5C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dirty="0"/>
              <a:t>The identification plots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5E13B1-3A31-47C7-8474-7A3DE600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3888" y="1976039"/>
            <a:ext cx="10515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ubstituent conținut 4" descr="O imagine care conține text, diagramă, schiță, desen&#10;&#10;Conținutul generat de inteligența artificială poate fi incorect.">
            <a:extLst>
              <a:ext uri="{FF2B5EF4-FFF2-40B4-BE49-F238E27FC236}">
                <a16:creationId xmlns:a16="http://schemas.microsoft.com/office/drawing/2014/main" id="{DA10C6C7-230A-6B9B-3DE1-E566B620A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29" y="2463867"/>
            <a:ext cx="4644360" cy="3483269"/>
          </a:xfrm>
          <a:prstGeom prst="rect">
            <a:avLst/>
          </a:prstGeom>
        </p:spPr>
      </p:pic>
      <p:pic>
        <p:nvPicPr>
          <p:cNvPr id="7" name="Imagine 6" descr="O imagine care conține diagramă, text, linie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F341C58C-5AED-ECA3-148F-1AF04C863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87" y="2466286"/>
            <a:ext cx="4632987" cy="3474739"/>
          </a:xfrm>
          <a:prstGeom prst="rect">
            <a:avLst/>
          </a:prstGeom>
        </p:spPr>
      </p:pic>
      <p:sp>
        <p:nvSpPr>
          <p:cNvPr id="18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2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D6C38-306A-73DF-E417-7740F59E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D2D0E055-4CAA-9BF8-5D1B-D9B1C8C2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dirty="0"/>
              <a:t>The optimal degree of polynomial</a:t>
            </a:r>
            <a:endParaRPr lang="en-US" noProof="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5E13B1-3A31-47C7-8474-7A3DE600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3888" y="1976039"/>
            <a:ext cx="10515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ine 5" descr="O imagine care conține diagramă, linie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EFFB3341-2532-D764-F2AA-BDC51FFFF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" r="2" b="2"/>
          <a:stretch>
            <a:fillRect/>
          </a:stretch>
        </p:blipFill>
        <p:spPr>
          <a:xfrm>
            <a:off x="558927" y="2451255"/>
            <a:ext cx="3784473" cy="2823594"/>
          </a:xfrm>
          <a:prstGeom prst="rect">
            <a:avLst/>
          </a:prstGeom>
        </p:spPr>
      </p:pic>
      <p:pic>
        <p:nvPicPr>
          <p:cNvPr id="4" name="Imagine 3" descr="O imagine care conține text, diagramă, captură de ecran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DD699F21-EF96-7459-4604-2836EA9FA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" r="2" b="2"/>
          <a:stretch>
            <a:fillRect/>
          </a:stretch>
        </p:blipFill>
        <p:spPr>
          <a:xfrm>
            <a:off x="4458333" y="2449718"/>
            <a:ext cx="3784473" cy="2823594"/>
          </a:xfrm>
          <a:prstGeom prst="rect">
            <a:avLst/>
          </a:prstGeom>
        </p:spPr>
      </p:pic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E40488B-1F31-FA7B-1FEF-7347BC55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739" y="2204640"/>
            <a:ext cx="3541205" cy="3579788"/>
          </a:xfrm>
        </p:spPr>
        <p:txBody>
          <a:bodyPr>
            <a:normAutofit/>
          </a:bodyPr>
          <a:lstStyle/>
          <a:p>
            <a:r>
              <a:rPr lang="en-US" dirty="0"/>
              <a:t>Resulting from our computations, we concluded that the optimal degree of polynomial is 6.</a:t>
            </a: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47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A59A1927-9304-3D5D-4142-95015DCA1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8232648" cy="1952716"/>
          </a:xfrm>
        </p:spPr>
        <p:txBody>
          <a:bodyPr anchor="ctr">
            <a:normAutofit/>
          </a:bodyPr>
          <a:lstStyle/>
          <a:p>
            <a:r>
              <a:rPr lang="en-US" dirty="0"/>
              <a:t>Discussions</a:t>
            </a:r>
            <a:br>
              <a:rPr lang="en-US" dirty="0"/>
            </a:br>
            <a:r>
              <a:rPr lang="en-US" dirty="0"/>
              <a:t>points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3215B34-E13F-2121-2977-CAA1AD010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5" y="3161680"/>
            <a:ext cx="8321167" cy="2620409"/>
          </a:xfrm>
        </p:spPr>
        <p:txBody>
          <a:bodyPr>
            <a:normAutofit/>
          </a:bodyPr>
          <a:lstStyle/>
          <a:p>
            <a:r>
              <a:rPr lang="en-US" dirty="0"/>
              <a:t>We chose the optimal degree of the polynomial by looking for the minimum value of the MSE.</a:t>
            </a:r>
          </a:p>
          <a:p>
            <a:r>
              <a:rPr lang="en-US" dirty="0"/>
              <a:t>The model was performing alright on the identification data and it performed almost perfectly on the validation data, having an error of only 1.6087.</a:t>
            </a:r>
          </a:p>
          <a:p>
            <a:r>
              <a:rPr lang="en-US" dirty="0"/>
              <a:t>We observe overfitting of the data after degree 26.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87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F0A4B3FE-C3E5-3DE8-AC3F-64D09A23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8321040" cy="1952716"/>
          </a:xfrm>
        </p:spPr>
        <p:txBody>
          <a:bodyPr anchor="ctr">
            <a:normAutofit/>
          </a:bodyPr>
          <a:lstStyle/>
          <a:p>
            <a:r>
              <a:rPr lang="en-US" dirty="0"/>
              <a:t>Overall 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225EB0B-0DE7-F32F-8897-C8EF36E32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5" y="3161680"/>
            <a:ext cx="8321167" cy="2620409"/>
          </a:xfrm>
        </p:spPr>
        <p:txBody>
          <a:bodyPr>
            <a:normAutofit/>
          </a:bodyPr>
          <a:lstStyle/>
          <a:p>
            <a:r>
              <a:rPr lang="en-US" dirty="0"/>
              <a:t>In conclusion, we developed a polynomial approximator and we found the optimal degree for our model.</a:t>
            </a:r>
          </a:p>
          <a:p>
            <a:r>
              <a:rPr lang="en-US" dirty="0"/>
              <a:t>The model is achieving and MSE values of 1.6 on the validation data-set, as mentioned before, and avoids overfitting seen in higher degree models.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ine 18">
            <a:extLst>
              <a:ext uri="{FF2B5EF4-FFF2-40B4-BE49-F238E27FC236}">
                <a16:creationId xmlns:a16="http://schemas.microsoft.com/office/drawing/2014/main" id="{FA404CB8-5495-CBA1-7335-B337329A6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56272"/>
            <a:ext cx="3517119" cy="3539309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ine 23">
            <a:extLst>
              <a:ext uri="{FF2B5EF4-FFF2-40B4-BE49-F238E27FC236}">
                <a16:creationId xmlns:a16="http://schemas.microsoft.com/office/drawing/2014/main" id="{0FCA0AD0-BC81-39C1-8430-5A498575B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023" y="2637638"/>
            <a:ext cx="3537345" cy="139789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ine 20">
            <a:extLst>
              <a:ext uri="{FF2B5EF4-FFF2-40B4-BE49-F238E27FC236}">
                <a16:creationId xmlns:a16="http://schemas.microsoft.com/office/drawing/2014/main" id="{70E92486-3A0F-2C6C-8F77-7473AD44A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698" y="1573887"/>
            <a:ext cx="3517120" cy="350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84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17A18-2840-FE9E-8A3B-EE4CB8A20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3E45E4F7-4584-4254-6A16-817B404E0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032911"/>
            <a:ext cx="3517119" cy="278603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ine 6">
            <a:extLst>
              <a:ext uri="{FF2B5EF4-FFF2-40B4-BE49-F238E27FC236}">
                <a16:creationId xmlns:a16="http://schemas.microsoft.com/office/drawing/2014/main" id="{107B602A-4FFB-A01A-BD3C-87842DC1B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2760414"/>
            <a:ext cx="3537345" cy="133102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ine 8">
            <a:extLst>
              <a:ext uri="{FF2B5EF4-FFF2-40B4-BE49-F238E27FC236}">
                <a16:creationId xmlns:a16="http://schemas.microsoft.com/office/drawing/2014/main" id="{30C48A4B-E8C3-3069-C843-EDE7FF5A3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2590717"/>
            <a:ext cx="3517120" cy="167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08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CF39B-B641-EC3D-BFFE-CAD486EB7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E33FF529-3C92-8E23-9085-43B729572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562" y="1676400"/>
            <a:ext cx="39528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74126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657A2C8-468A-47A8-975F-FBC2667847D6}">
  <we:reference id="4b785c87-866c-4bad-85d8-5d1ae467ac9a" version="3.18.1.0" store="EXCatalog" storeType="EXCatalog"/>
  <we:alternateReferences>
    <we:reference id="WA104381909" version="3.18.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331</Words>
  <Application>Microsoft Office PowerPoint</Application>
  <PresentationFormat>Ecran lat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11</vt:i4>
      </vt:variant>
    </vt:vector>
  </HeadingPairs>
  <TitlesOfParts>
    <vt:vector size="15" baseType="lpstr">
      <vt:lpstr>Arial</vt:lpstr>
      <vt:lpstr>Avenir Next LT Pro</vt:lpstr>
      <vt:lpstr>Sitka Banner</vt:lpstr>
      <vt:lpstr>HeadlinesVTI</vt:lpstr>
      <vt:lpstr>Project Part 1. Fitting an unknown function</vt:lpstr>
      <vt:lpstr>Our Task</vt:lpstr>
      <vt:lpstr>Our Solution</vt:lpstr>
      <vt:lpstr>Mean Squared Error</vt:lpstr>
      <vt:lpstr>The identification plots</vt:lpstr>
      <vt:lpstr>The optimal degree of polynomial</vt:lpstr>
      <vt:lpstr>Discussions points</vt:lpstr>
      <vt:lpstr>Overall conclusion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Nichita</dc:creator>
  <cp:lastModifiedBy>Marcus Nichita</cp:lastModifiedBy>
  <cp:revision>1</cp:revision>
  <dcterms:created xsi:type="dcterms:W3CDTF">2025-11-04T14:11:29Z</dcterms:created>
  <dcterms:modified xsi:type="dcterms:W3CDTF">2025-11-04T16:04:38Z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2025-11-04T14:12:42Z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e16c00bd-a02f-40c6-9979-06c5d49bc45e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